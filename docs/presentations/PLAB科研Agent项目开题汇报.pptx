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D:\AgentSys\docs\md\00-Architecture.md（用户提供的项目架构文档）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ver-accent">
            <a:extLst>
              <a:ext uri="{FF2B5EF4-FFF2-40B4-BE49-F238E27FC236}">
                <a16:creationId xmlns:a16="http://schemas.microsoft.com/office/drawing/2014/main" id="{800AC9F5-7A83-4B4B-8186-33A203641B00}"/>
              </a:ext>
            </a:extLst>
          </p:cNvPr>
          <p:cNvSpPr>
            <a:spLocks noGrp="1"/>
          </p:cNvSpPr>
          <p:nvPr/>
        </p:nvSpPr>
        <p:spPr>
          <a:xfrm>
            <a:off x="9258300" y="0"/>
            <a:ext cx="2933700" cy="68580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2" name="cover-blue">
            <a:extLst>
              <a:ext uri="{FF2B5EF4-FFF2-40B4-BE49-F238E27FC236}">
                <a16:creationId xmlns:a16="http://schemas.microsoft.com/office/drawing/2014/main" id="{AAD764FE-2655-44F2-8F00-51184FE93ED3}"/>
              </a:ext>
            </a:extLst>
          </p:cNvPr>
          <p:cNvSpPr>
            <a:spLocks noGrp="1"/>
          </p:cNvSpPr>
          <p:nvPr/>
        </p:nvSpPr>
        <p:spPr>
          <a:xfrm>
            <a:off x="10515600" y="0"/>
            <a:ext cx="167640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3" name="cover-kicker">
            <a:extLst>
              <a:ext uri="{FF2B5EF4-FFF2-40B4-BE49-F238E27FC236}">
                <a16:creationId xmlns:a16="http://schemas.microsoft.com/office/drawing/2014/main" id="{3D72D1DA-A497-4E19-8D5B-204FE8E42033}"/>
              </a:ext>
            </a:extLst>
          </p:cNvPr>
          <p:cNvSpPr>
            <a:spLocks noGrp="1"/>
          </p:cNvSpPr>
          <p:nvPr/>
        </p:nvSpPr>
        <p:spPr>
          <a:xfrm>
            <a:off x="400050" y="495300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PLAB · 项目开题汇报</a:t>
            </a:r>
          </a:p>
        </p:txBody>
      </p:sp>
      <p:sp>
        <p:nvSpPr>
          <p:cNvPr id="4" name="cover-title">
            <a:extLst>
              <a:ext uri="{FF2B5EF4-FFF2-40B4-BE49-F238E27FC236}">
                <a16:creationId xmlns:a16="http://schemas.microsoft.com/office/drawing/2014/main" id="{1F4F4CF5-3686-42F1-8C67-76DFB4E74602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7810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2000"/>
              </a:lnSpc>
              <a:buNone/>
              <a:defRPr sz="58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科研 Agent</a:t>
            </a:r>
          </a:p>
          <a:p>
            <a:pPr algn="l">
              <a:lnSpc>
                <a:spcPct val="92000"/>
              </a:lnSpc>
              <a:buNone/>
              <a:defRPr sz="58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系统</a:t>
            </a:r>
          </a:p>
        </p:txBody>
      </p:sp>
      <p:sp>
        <p:nvSpPr>
          <p:cNvPr id="5" name="cover-subtitle">
            <a:extLst>
              <a:ext uri="{FF2B5EF4-FFF2-40B4-BE49-F238E27FC236}">
                <a16:creationId xmlns:a16="http://schemas.microsoft.com/office/drawing/2014/main" id="{1F139FBE-380A-4BA9-ADA2-BFBDD2C3B6B8}"/>
              </a:ext>
            </a:extLst>
          </p:cNvPr>
          <p:cNvSpPr>
            <a:spLocks noGrp="1"/>
          </p:cNvSpPr>
          <p:nvPr/>
        </p:nvSpPr>
        <p:spPr>
          <a:xfrm>
            <a:off x="400050" y="4400550"/>
            <a:ext cx="7524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面向课题组的科研知识沉淀、智能检索与工具共享平台</a:t>
            </a:r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3ECE9069-774A-4ECE-99BC-A60D09652EBE}"/>
              </a:ext>
            </a:extLst>
          </p:cNvPr>
          <p:cNvSpPr>
            <a:spLocks noGrp="1"/>
          </p:cNvSpPr>
          <p:nvPr/>
        </p:nvSpPr>
        <p:spPr>
          <a:xfrm>
            <a:off x="400050" y="5734050"/>
            <a:ext cx="7620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宏观架构 · 建设边界 · 实施路线 · 验收建议</a:t>
            </a:r>
          </a:p>
        </p:txBody>
      </p:sp>
    </p:spTree>
    <p:extLst>
      <p:ext uri="{BB962C8B-B14F-4D97-AF65-F5344CB8AC3E}">
        <p14:creationId xmlns:p14="http://schemas.microsoft.com/office/powerpoint/2010/main" val="82061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accent-2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2">
            <a:extLst>
              <a:ext uri="{FF2B5EF4-FFF2-40B4-BE49-F238E27FC236}">
                <a16:creationId xmlns:a16="http://schemas.microsoft.com/office/drawing/2014/main" id="{6E63EA48-A9A9-4240-B200-0CABA8BDD577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科研资产在增长，但可复用能力没有同步增长</a:t>
            </a:r>
          </a:p>
        </p:txBody>
      </p:sp>
      <p:sp>
        <p:nvSpPr>
          <p:cNvPr id="3" name="problem-index-0">
            <a:extLst>
              <a:ext uri="{FF2B5EF4-FFF2-40B4-BE49-F238E27FC236}">
                <a16:creationId xmlns:a16="http://schemas.microsoft.com/office/drawing/2014/main" id="{86CAA30B-8A4A-4331-9D25-88135A356A3F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cxnSp>
        <p:nvCxnSpPr>
          <p:cNvPr id="22" name="problem-rule-0"/>
          <p:cNvCxnSpPr/>
          <p:nvPr/>
        </p:nvCxnSpPr>
        <p:spPr>
          <a:xfrm>
            <a:off x="1238250" y="2124075"/>
            <a:ext cx="1000125" cy="952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5" name="problem-title-0">
            <a:extLst>
              <a:ext uri="{FF2B5EF4-FFF2-40B4-BE49-F238E27FC236}">
                <a16:creationId xmlns:a16="http://schemas.microsoft.com/office/drawing/2014/main" id="{32F97824-3151-4C9C-83DA-AC5B5F7E9143}"/>
              </a:ext>
            </a:extLst>
          </p:cNvPr>
          <p:cNvSpPr>
            <a:spLocks noGrp="1"/>
          </p:cNvSpPr>
          <p:nvPr/>
        </p:nvSpPr>
        <p:spPr>
          <a:xfrm>
            <a:off x="2514600" y="1933575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内容分散</a:t>
            </a:r>
          </a:p>
        </p:txBody>
      </p:sp>
      <p:sp>
        <p:nvSpPr>
          <p:cNvPr id="6" name="problem-body-0">
            <a:extLst>
              <a:ext uri="{FF2B5EF4-FFF2-40B4-BE49-F238E27FC236}">
                <a16:creationId xmlns:a16="http://schemas.microsoft.com/office/drawing/2014/main" id="{FD54CFBF-773E-4CB1-9613-425CD9738FCF}"/>
              </a:ext>
            </a:extLst>
          </p:cNvPr>
          <p:cNvSpPr>
            <a:spLocks noGrp="1"/>
          </p:cNvSpPr>
          <p:nvPr/>
        </p:nvSpPr>
        <p:spPr>
          <a:xfrm>
            <a:off x="4953000" y="1952625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文献数量多、分布散，查找与复用成本持续上升。</a:t>
            </a:r>
          </a:p>
        </p:txBody>
      </p:sp>
      <p:sp>
        <p:nvSpPr>
          <p:cNvPr id="7" name="problem-index-1">
            <a:extLst>
              <a:ext uri="{FF2B5EF4-FFF2-40B4-BE49-F238E27FC236}">
                <a16:creationId xmlns:a16="http://schemas.microsoft.com/office/drawing/2014/main" id="{2ADA0327-C71B-4BA1-967F-1F6787C97208}"/>
              </a:ext>
            </a:extLst>
          </p:cNvPr>
          <p:cNvSpPr>
            <a:spLocks noGrp="1"/>
          </p:cNvSpPr>
          <p:nvPr/>
        </p:nvSpPr>
        <p:spPr>
          <a:xfrm>
            <a:off x="400050" y="2933700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cxnSp>
        <p:nvCxnSpPr>
          <p:cNvPr id="26" name="problem-rule-1"/>
          <p:cNvCxnSpPr/>
          <p:nvPr/>
        </p:nvCxnSpPr>
        <p:spPr>
          <a:xfrm>
            <a:off x="1238250" y="3105150"/>
            <a:ext cx="1000125" cy="952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9" name="problem-title-1">
            <a:extLst>
              <a:ext uri="{FF2B5EF4-FFF2-40B4-BE49-F238E27FC236}">
                <a16:creationId xmlns:a16="http://schemas.microsoft.com/office/drawing/2014/main" id="{F687A687-5538-4F1E-9FF5-82D2CC41FFED}"/>
              </a:ext>
            </a:extLst>
          </p:cNvPr>
          <p:cNvSpPr>
            <a:spLocks noGrp="1"/>
          </p:cNvSpPr>
          <p:nvPr/>
        </p:nvSpPr>
        <p:spPr>
          <a:xfrm>
            <a:off x="2514600" y="291465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知识难传承</a:t>
            </a:r>
          </a:p>
        </p:txBody>
      </p:sp>
      <p:sp>
        <p:nvSpPr>
          <p:cNvPr id="10" name="problem-body-1">
            <a:extLst>
              <a:ext uri="{FF2B5EF4-FFF2-40B4-BE49-F238E27FC236}">
                <a16:creationId xmlns:a16="http://schemas.microsoft.com/office/drawing/2014/main" id="{94D2749B-6F48-4FBA-833E-B8F26A5C38CF}"/>
              </a:ext>
            </a:extLst>
          </p:cNvPr>
          <p:cNvSpPr>
            <a:spLocks noGrp="1"/>
          </p:cNvSpPr>
          <p:nvPr/>
        </p:nvSpPr>
        <p:spPr>
          <a:xfrm>
            <a:off x="4953000" y="293370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公式推导、研究笔记与代码依赖个人保存和口头交接。</a:t>
            </a:r>
          </a:p>
        </p:txBody>
      </p:sp>
      <p:sp>
        <p:nvSpPr>
          <p:cNvPr id="11" name="problem-index-2">
            <a:extLst>
              <a:ext uri="{FF2B5EF4-FFF2-40B4-BE49-F238E27FC236}">
                <a16:creationId xmlns:a16="http://schemas.microsoft.com/office/drawing/2014/main" id="{61DFFB6F-4ACD-42DC-8B3D-957614597500}"/>
              </a:ext>
            </a:extLst>
          </p:cNvPr>
          <p:cNvSpPr>
            <a:spLocks noGrp="1"/>
          </p:cNvSpPr>
          <p:nvPr/>
        </p:nvSpPr>
        <p:spPr>
          <a:xfrm>
            <a:off x="400050" y="3914775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30" name="problem-rule-2"/>
          <p:cNvCxnSpPr/>
          <p:nvPr/>
        </p:nvCxnSpPr>
        <p:spPr>
          <a:xfrm>
            <a:off x="1238250" y="4086225"/>
            <a:ext cx="1000125" cy="952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3" name="problem-title-2">
            <a:extLst>
              <a:ext uri="{FF2B5EF4-FFF2-40B4-BE49-F238E27FC236}">
                <a16:creationId xmlns:a16="http://schemas.microsoft.com/office/drawing/2014/main" id="{108D3623-5EA7-4A68-8A46-1047ACB6B426}"/>
              </a:ext>
            </a:extLst>
          </p:cNvPr>
          <p:cNvSpPr>
            <a:spLocks noGrp="1"/>
          </p:cNvSpPr>
          <p:nvPr/>
        </p:nvSpPr>
        <p:spPr>
          <a:xfrm>
            <a:off x="2514600" y="3895725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工具重复开发</a:t>
            </a:r>
          </a:p>
        </p:txBody>
      </p:sp>
      <p:sp>
        <p:nvSpPr>
          <p:cNvPr id="14" name="problem-body-2">
            <a:extLst>
              <a:ext uri="{FF2B5EF4-FFF2-40B4-BE49-F238E27FC236}">
                <a16:creationId xmlns:a16="http://schemas.microsoft.com/office/drawing/2014/main" id="{CAEF444B-DC7B-4D5C-B001-1D71731E6F76}"/>
              </a:ext>
            </a:extLst>
          </p:cNvPr>
          <p:cNvSpPr>
            <a:spLocks noGrp="1"/>
          </p:cNvSpPr>
          <p:nvPr/>
        </p:nvSpPr>
        <p:spPr>
          <a:xfrm>
            <a:off x="4953000" y="3914775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相似科研任务缺少统一工具，每位成员重新实现。</a:t>
            </a:r>
          </a:p>
        </p:txBody>
      </p:sp>
      <p:sp>
        <p:nvSpPr>
          <p:cNvPr id="15" name="problem-index-3">
            <a:extLst>
              <a:ext uri="{FF2B5EF4-FFF2-40B4-BE49-F238E27FC236}">
                <a16:creationId xmlns:a16="http://schemas.microsoft.com/office/drawing/2014/main" id="{D7C0FB57-E269-42C7-A5B3-3607F995201C}"/>
              </a:ext>
            </a:extLst>
          </p:cNvPr>
          <p:cNvSpPr>
            <a:spLocks noGrp="1"/>
          </p:cNvSpPr>
          <p:nvPr/>
        </p:nvSpPr>
        <p:spPr>
          <a:xfrm>
            <a:off x="400050" y="4895850"/>
            <a:ext cx="6286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cxnSp>
        <p:nvCxnSpPr>
          <p:cNvPr id="34" name="problem-rule-3"/>
          <p:cNvCxnSpPr/>
          <p:nvPr/>
        </p:nvCxnSpPr>
        <p:spPr>
          <a:xfrm>
            <a:off x="1238250" y="5067300"/>
            <a:ext cx="1000125" cy="952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7" name="problem-title-3">
            <a:extLst>
              <a:ext uri="{FF2B5EF4-FFF2-40B4-BE49-F238E27FC236}">
                <a16:creationId xmlns:a16="http://schemas.microsoft.com/office/drawing/2014/main" id="{0ECC606B-EF63-41E1-ADBD-E509D508ECBA}"/>
              </a:ext>
            </a:extLst>
          </p:cNvPr>
          <p:cNvSpPr>
            <a:spLocks noGrp="1"/>
          </p:cNvSpPr>
          <p:nvPr/>
        </p:nvSpPr>
        <p:spPr>
          <a:xfrm>
            <a:off x="2514600" y="4876800"/>
            <a:ext cx="2333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新人上手慢</a:t>
            </a:r>
          </a:p>
        </p:txBody>
      </p:sp>
      <p:sp>
        <p:nvSpPr>
          <p:cNvPr id="18" name="problem-body-3">
            <a:extLst>
              <a:ext uri="{FF2B5EF4-FFF2-40B4-BE49-F238E27FC236}">
                <a16:creationId xmlns:a16="http://schemas.microsoft.com/office/drawing/2014/main" id="{735297AD-36A5-4179-A682-5984A117F815}"/>
              </a:ext>
            </a:extLst>
          </p:cNvPr>
          <p:cNvSpPr>
            <a:spLocks noGrp="1"/>
          </p:cNvSpPr>
          <p:nvPr/>
        </p:nvSpPr>
        <p:spPr>
          <a:xfrm>
            <a:off x="4953000" y="48958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既有知识、方法和工作规范缺少统一入口。</a:t>
            </a:r>
          </a:p>
        </p:txBody>
      </p:sp>
    </p:spTree>
    <p:extLst>
      <p:ext uri="{BB962C8B-B14F-4D97-AF65-F5344CB8AC3E}">
        <p14:creationId xmlns:p14="http://schemas.microsoft.com/office/powerpoint/2010/main" val="1756055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accent-3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3">
            <a:extLst>
              <a:ext uri="{FF2B5EF4-FFF2-40B4-BE49-F238E27FC236}">
                <a16:creationId xmlns:a16="http://schemas.microsoft.com/office/drawing/2014/main" id="{04FF6DC0-6223-4166-8E74-E75EA4628276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项目不是“另一个文件库”，而是四种能力的一体化入口</a:t>
            </a:r>
          </a:p>
        </p:txBody>
      </p:sp>
      <p:sp>
        <p:nvSpPr>
          <p:cNvPr id="3" name="position-band-0">
            <a:extLst>
              <a:ext uri="{FF2B5EF4-FFF2-40B4-BE49-F238E27FC236}">
                <a16:creationId xmlns:a16="http://schemas.microsoft.com/office/drawing/2014/main" id="{F8742BE6-5135-41DB-B6B7-A139F130A11E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2590800" cy="1143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4" name="position-0-heading">
            <a:extLst>
              <a:ext uri="{FF2B5EF4-FFF2-40B4-BE49-F238E27FC236}">
                <a16:creationId xmlns:a16="http://schemas.microsoft.com/office/drawing/2014/main" id="{00D9F2CE-A349-4DA5-88C3-B11D752B2564}"/>
              </a:ext>
            </a:extLst>
          </p:cNvPr>
          <p:cNvSpPr>
            <a:spLocks noGrp="1"/>
          </p:cNvSpPr>
          <p:nvPr/>
        </p:nvSpPr>
        <p:spPr>
          <a:xfrm>
            <a:off x="400050" y="2400300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知识沉淀</a:t>
            </a:r>
          </a:p>
        </p:txBody>
      </p:sp>
      <p:sp>
        <p:nvSpPr>
          <p:cNvPr id="5" name="position-0-body">
            <a:extLst>
              <a:ext uri="{FF2B5EF4-FFF2-40B4-BE49-F238E27FC236}">
                <a16:creationId xmlns:a16="http://schemas.microsoft.com/office/drawing/2014/main" id="{FE494FA9-53CC-45E6-9283-BABE67C2D612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259080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文献、笔记、代码与 Skill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统一接收，原件与版本共存</a:t>
            </a:r>
          </a:p>
        </p:txBody>
      </p:sp>
      <p:sp>
        <p:nvSpPr>
          <p:cNvPr id="6" name="position-band-1">
            <a:extLst>
              <a:ext uri="{FF2B5EF4-FFF2-40B4-BE49-F238E27FC236}">
                <a16:creationId xmlns:a16="http://schemas.microsoft.com/office/drawing/2014/main" id="{8EF4E580-607C-4F02-8F32-6514EAD563D6}"/>
              </a:ext>
            </a:extLst>
          </p:cNvPr>
          <p:cNvSpPr>
            <a:spLocks noGrp="1"/>
          </p:cNvSpPr>
          <p:nvPr/>
        </p:nvSpPr>
        <p:spPr>
          <a:xfrm>
            <a:off x="3248025" y="2000250"/>
            <a:ext cx="2590800" cy="1143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7" name="position-1-heading">
            <a:extLst>
              <a:ext uri="{FF2B5EF4-FFF2-40B4-BE49-F238E27FC236}">
                <a16:creationId xmlns:a16="http://schemas.microsoft.com/office/drawing/2014/main" id="{B19DB867-4BF5-4A8D-86ED-844986091068}"/>
              </a:ext>
            </a:extLst>
          </p:cNvPr>
          <p:cNvSpPr>
            <a:spLocks noGrp="1"/>
          </p:cNvSpPr>
          <p:nvPr/>
        </p:nvSpPr>
        <p:spPr>
          <a:xfrm>
            <a:off x="3248025" y="2400300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智能检索</a:t>
            </a:r>
          </a:p>
        </p:txBody>
      </p:sp>
      <p:sp>
        <p:nvSpPr>
          <p:cNvPr id="8" name="position-1-body">
            <a:extLst>
              <a:ext uri="{FF2B5EF4-FFF2-40B4-BE49-F238E27FC236}">
                <a16:creationId xmlns:a16="http://schemas.microsoft.com/office/drawing/2014/main" id="{9A0CBB47-ED2E-422C-9281-AEFC05318A55}"/>
              </a:ext>
            </a:extLst>
          </p:cNvPr>
          <p:cNvSpPr>
            <a:spLocks noGrp="1"/>
          </p:cNvSpPr>
          <p:nvPr/>
        </p:nvSpPr>
        <p:spPr>
          <a:xfrm>
            <a:off x="3248025" y="2857500"/>
            <a:ext cx="259080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标题、正文、公式、代码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支持跨语言语义检索</a:t>
            </a:r>
          </a:p>
        </p:txBody>
      </p:sp>
      <p:sp>
        <p:nvSpPr>
          <p:cNvPr id="9" name="position-band-2">
            <a:extLst>
              <a:ext uri="{FF2B5EF4-FFF2-40B4-BE49-F238E27FC236}">
                <a16:creationId xmlns:a16="http://schemas.microsoft.com/office/drawing/2014/main" id="{AF238F37-4E24-4CAD-AA49-53CCA9EE26C6}"/>
              </a:ext>
            </a:extLst>
          </p:cNvPr>
          <p:cNvSpPr>
            <a:spLocks noGrp="1"/>
          </p:cNvSpPr>
          <p:nvPr/>
        </p:nvSpPr>
        <p:spPr>
          <a:xfrm>
            <a:off x="6096000" y="2000250"/>
            <a:ext cx="2590800" cy="114300"/>
          </a:xfrm>
          <a:prstGeom prst="rect">
            <a:avLst/>
          </a:prstGeom>
          <a:solidFill>
            <a:srgbClr val="6DCBF4"/>
          </a:solidFill>
          <a:ln w="0">
            <a:noFill/>
            <a:prstDash val="solid"/>
          </a:ln>
        </p:spPr>
      </p:sp>
      <p:sp>
        <p:nvSpPr>
          <p:cNvPr id="10" name="position-2-heading">
            <a:extLst>
              <a:ext uri="{FF2B5EF4-FFF2-40B4-BE49-F238E27FC236}">
                <a16:creationId xmlns:a16="http://schemas.microsoft.com/office/drawing/2014/main" id="{70DCFE7B-BBC3-40B0-8E1B-1445FB942865}"/>
              </a:ext>
            </a:extLst>
          </p:cNvPr>
          <p:cNvSpPr>
            <a:spLocks noGrp="1"/>
          </p:cNvSpPr>
          <p:nvPr/>
        </p:nvSpPr>
        <p:spPr>
          <a:xfrm>
            <a:off x="6096000" y="2400300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工具共享</a:t>
            </a:r>
          </a:p>
        </p:txBody>
      </p:sp>
      <p:sp>
        <p:nvSpPr>
          <p:cNvPr id="11" name="position-2-body">
            <a:extLst>
              <a:ext uri="{FF2B5EF4-FFF2-40B4-BE49-F238E27FC236}">
                <a16:creationId xmlns:a16="http://schemas.microsoft.com/office/drawing/2014/main" id="{3DDA502A-C4B5-4169-9BCD-2F532671E0FD}"/>
              </a:ext>
            </a:extLst>
          </p:cNvPr>
          <p:cNvSpPr>
            <a:spLocks noGrp="1"/>
          </p:cNvSpPr>
          <p:nvPr/>
        </p:nvSpPr>
        <p:spPr>
          <a:xfrm>
            <a:off x="6096000" y="2857500"/>
            <a:ext cx="259080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重复科研工作封装为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可审核、可追溯的共享 Skill</a:t>
            </a:r>
          </a:p>
        </p:txBody>
      </p:sp>
      <p:sp>
        <p:nvSpPr>
          <p:cNvPr id="12" name="position-band-3">
            <a:extLst>
              <a:ext uri="{FF2B5EF4-FFF2-40B4-BE49-F238E27FC236}">
                <a16:creationId xmlns:a16="http://schemas.microsoft.com/office/drawing/2014/main" id="{06728131-4A9E-48DB-A0C8-E0E95AABEC5C}"/>
              </a:ext>
            </a:extLst>
          </p:cNvPr>
          <p:cNvSpPr>
            <a:spLocks noGrp="1"/>
          </p:cNvSpPr>
          <p:nvPr/>
        </p:nvSpPr>
        <p:spPr>
          <a:xfrm>
            <a:off x="8943975" y="2000250"/>
            <a:ext cx="2590800" cy="1143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position-3-heading">
            <a:extLst>
              <a:ext uri="{FF2B5EF4-FFF2-40B4-BE49-F238E27FC236}">
                <a16:creationId xmlns:a16="http://schemas.microsoft.com/office/drawing/2014/main" id="{CE96C29D-1405-4AF9-B7B3-53104788CE1E}"/>
              </a:ext>
            </a:extLst>
          </p:cNvPr>
          <p:cNvSpPr>
            <a:spLocks noGrp="1"/>
          </p:cNvSpPr>
          <p:nvPr/>
        </p:nvSpPr>
        <p:spPr>
          <a:xfrm>
            <a:off x="8943975" y="2400300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科研助手</a:t>
            </a:r>
          </a:p>
        </p:txBody>
      </p:sp>
      <p:sp>
        <p:nvSpPr>
          <p:cNvPr id="14" name="position-3-body">
            <a:extLst>
              <a:ext uri="{FF2B5EF4-FFF2-40B4-BE49-F238E27FC236}">
                <a16:creationId xmlns:a16="http://schemas.microsoft.com/office/drawing/2014/main" id="{8897559E-A0B2-494B-B5D7-A91DBAE497CC}"/>
              </a:ext>
            </a:extLst>
          </p:cNvPr>
          <p:cNvSpPr>
            <a:spLocks noGrp="1"/>
          </p:cNvSpPr>
          <p:nvPr/>
        </p:nvSpPr>
        <p:spPr>
          <a:xfrm>
            <a:off x="8943975" y="2857500"/>
            <a:ext cx="2590800" cy="2152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基于已发布、可访问证据回答</a:t>
            </a:r>
          </a:p>
          <a:p>
            <a:pPr algn="l">
              <a:lnSpc>
                <a:spcPct val="108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标明来源与不确定性</a:t>
            </a:r>
          </a:p>
        </p:txBody>
      </p:sp>
      <p:sp>
        <p:nvSpPr>
          <p:cNvPr id="15" name="position-close">
            <a:extLst>
              <a:ext uri="{FF2B5EF4-FFF2-40B4-BE49-F238E27FC236}">
                <a16:creationId xmlns:a16="http://schemas.microsoft.com/office/drawing/2014/main" id="{271CD88D-7B26-49B1-B5D7-25EE2CC051D9}"/>
              </a:ext>
            </a:extLst>
          </p:cNvPr>
          <p:cNvSpPr>
            <a:spLocks noGrp="1"/>
          </p:cNvSpPr>
          <p:nvPr/>
        </p:nvSpPr>
        <p:spPr>
          <a:xfrm>
            <a:off x="400050" y="5619750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一个入口，把“存下来、找得到、用得上、可追溯”串成完整闭环。</a:t>
            </a:r>
          </a:p>
        </p:txBody>
      </p:sp>
    </p:spTree>
    <p:extLst>
      <p:ext uri="{BB962C8B-B14F-4D97-AF65-F5344CB8AC3E}">
        <p14:creationId xmlns:p14="http://schemas.microsoft.com/office/powerpoint/2010/main" val="97893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accent-4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4">
            <a:extLst>
              <a:ext uri="{FF2B5EF4-FFF2-40B4-BE49-F238E27FC236}">
                <a16:creationId xmlns:a16="http://schemas.microsoft.com/office/drawing/2014/main" id="{2919C728-74A4-4D0A-B02B-6067CCFCCF1F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开题要回答的不是功能清单，而是三个系统问题</a:t>
            </a:r>
          </a:p>
        </p:txBody>
      </p:sp>
      <p:cxnSp>
        <p:nvCxnSpPr>
          <p:cNvPr id="21" name="question-axis"/>
          <p:cNvCxnSpPr/>
          <p:nvPr/>
        </p:nvCxnSpPr>
        <p:spPr>
          <a:xfrm>
            <a:off x="400050" y="5572125"/>
            <a:ext cx="11391900" cy="9525"/>
          </a:xfrm>
          <a:prstGeom prst="straightConnector1">
            <a:avLst/>
          </a:prstGeom>
          <a:ln w="9525">
            <a:solidFill>
              <a:srgbClr val="0A0A0A"/>
            </a:solidFill>
            <a:prstDash val="solid"/>
          </a:ln>
        </p:spPr>
      </p:cxnSp>
      <p:sp>
        <p:nvSpPr>
          <p:cNvPr id="4" name="question-panel-0">
            <a:extLst>
              <a:ext uri="{FF2B5EF4-FFF2-40B4-BE49-F238E27FC236}">
                <a16:creationId xmlns:a16="http://schemas.microsoft.com/office/drawing/2014/main" id="{3B8E98D2-8720-4831-8757-13B96ACDBB8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62350" cy="3333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question-q-0">
            <a:extLst>
              <a:ext uri="{FF2B5EF4-FFF2-40B4-BE49-F238E27FC236}">
                <a16:creationId xmlns:a16="http://schemas.microsoft.com/office/drawing/2014/main" id="{E3361FC6-E2A5-4981-8905-A8044125E4F4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2990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如何沉淀？</a:t>
            </a:r>
          </a:p>
        </p:txBody>
      </p:sp>
      <p:sp>
        <p:nvSpPr>
          <p:cNvPr id="6" name="question-body-0">
            <a:extLst>
              <a:ext uri="{FF2B5EF4-FFF2-40B4-BE49-F238E27FC236}">
                <a16:creationId xmlns:a16="http://schemas.microsoft.com/office/drawing/2014/main" id="{4C68535B-EC3E-4EBC-8480-B76080E94C73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29908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让异构科研资料进入统一生命周期</a:t>
            </a: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同时保留原件、作者与版本</a:t>
            </a:r>
          </a:p>
        </p:txBody>
      </p:sp>
      <p:sp>
        <p:nvSpPr>
          <p:cNvPr id="7" name="question-answer-0">
            <a:extLst>
              <a:ext uri="{FF2B5EF4-FFF2-40B4-BE49-F238E27FC236}">
                <a16:creationId xmlns:a16="http://schemas.microsoft.com/office/drawing/2014/main" id="{77B35BE1-76E4-4B0F-A305-8964ACB99EFA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知识对象 + 生命周期</a:t>
            </a:r>
          </a:p>
        </p:txBody>
      </p:sp>
      <p:sp>
        <p:nvSpPr>
          <p:cNvPr id="8" name="question-dot-0">
            <a:extLst>
              <a:ext uri="{FF2B5EF4-FFF2-40B4-BE49-F238E27FC236}">
                <a16:creationId xmlns:a16="http://schemas.microsoft.com/office/drawing/2014/main" id="{400BC3E4-67BE-4804-9ABE-26D48295B247}"/>
              </a:ext>
            </a:extLst>
          </p:cNvPr>
          <p:cNvSpPr>
            <a:spLocks noGrp="1"/>
          </p:cNvSpPr>
          <p:nvPr/>
        </p:nvSpPr>
        <p:spPr>
          <a:xfrm>
            <a:off x="400050" y="5514975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9" name="question-panel-1">
            <a:extLst>
              <a:ext uri="{FF2B5EF4-FFF2-40B4-BE49-F238E27FC236}">
                <a16:creationId xmlns:a16="http://schemas.microsoft.com/office/drawing/2014/main" id="{7757289C-3BD9-4A2D-9512-B63FC2F1FF16}"/>
              </a:ext>
            </a:extLst>
          </p:cNvPr>
          <p:cNvSpPr>
            <a:spLocks noGrp="1"/>
          </p:cNvSpPr>
          <p:nvPr/>
        </p:nvSpPr>
        <p:spPr>
          <a:xfrm>
            <a:off x="4314825" y="1809750"/>
            <a:ext cx="3562350" cy="33337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0" name="question-q-1">
            <a:extLst>
              <a:ext uri="{FF2B5EF4-FFF2-40B4-BE49-F238E27FC236}">
                <a16:creationId xmlns:a16="http://schemas.microsoft.com/office/drawing/2014/main" id="{30CD3307-2C18-43B5-A199-668C94B4F5A3}"/>
              </a:ext>
            </a:extLst>
          </p:cNvPr>
          <p:cNvSpPr>
            <a:spLocks noGrp="1"/>
          </p:cNvSpPr>
          <p:nvPr/>
        </p:nvSpPr>
        <p:spPr>
          <a:xfrm>
            <a:off x="4600575" y="2133600"/>
            <a:ext cx="2990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如何可信地找？</a:t>
            </a:r>
          </a:p>
        </p:txBody>
      </p:sp>
      <p:sp>
        <p:nvSpPr>
          <p:cNvPr id="11" name="question-body-1">
            <a:extLst>
              <a:ext uri="{FF2B5EF4-FFF2-40B4-BE49-F238E27FC236}">
                <a16:creationId xmlns:a16="http://schemas.microsoft.com/office/drawing/2014/main" id="{BDC55D51-22B7-4302-88AC-BDFD3D7713E8}"/>
              </a:ext>
            </a:extLst>
          </p:cNvPr>
          <p:cNvSpPr>
            <a:spLocks noGrp="1"/>
          </p:cNvSpPr>
          <p:nvPr/>
        </p:nvSpPr>
        <p:spPr>
          <a:xfrm>
            <a:off x="4600575" y="2876550"/>
            <a:ext cx="29908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从自然语言意图出发</a:t>
            </a: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用全文与语义检索定位证据</a:t>
            </a: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拒绝无依据结论</a:t>
            </a:r>
          </a:p>
        </p:txBody>
      </p:sp>
      <p:sp>
        <p:nvSpPr>
          <p:cNvPr id="12" name="question-answer-1">
            <a:extLst>
              <a:ext uri="{FF2B5EF4-FFF2-40B4-BE49-F238E27FC236}">
                <a16:creationId xmlns:a16="http://schemas.microsoft.com/office/drawing/2014/main" id="{66D9FE7B-058C-46D9-8516-98E478CD4884}"/>
              </a:ext>
            </a:extLst>
          </p:cNvPr>
          <p:cNvSpPr>
            <a:spLocks noGrp="1"/>
          </p:cNvSpPr>
          <p:nvPr/>
        </p:nvSpPr>
        <p:spPr>
          <a:xfrm>
            <a:off x="4600575" y="453390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混合检索 + 可追溯 Agent</a:t>
            </a:r>
          </a:p>
        </p:txBody>
      </p:sp>
      <p:sp>
        <p:nvSpPr>
          <p:cNvPr id="13" name="question-dot-1">
            <a:extLst>
              <a:ext uri="{FF2B5EF4-FFF2-40B4-BE49-F238E27FC236}">
                <a16:creationId xmlns:a16="http://schemas.microsoft.com/office/drawing/2014/main" id="{59D1FEA3-5EC9-45EA-937A-240714E0433F}"/>
              </a:ext>
            </a:extLst>
          </p:cNvPr>
          <p:cNvSpPr>
            <a:spLocks noGrp="1"/>
          </p:cNvSpPr>
          <p:nvPr/>
        </p:nvSpPr>
        <p:spPr>
          <a:xfrm>
            <a:off x="4314825" y="5514975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4" name="question-panel-2">
            <a:extLst>
              <a:ext uri="{FF2B5EF4-FFF2-40B4-BE49-F238E27FC236}">
                <a16:creationId xmlns:a16="http://schemas.microsoft.com/office/drawing/2014/main" id="{4D0F4202-D0F3-47C6-914D-4F4875532006}"/>
              </a:ext>
            </a:extLst>
          </p:cNvPr>
          <p:cNvSpPr>
            <a:spLocks noGrp="1"/>
          </p:cNvSpPr>
          <p:nvPr/>
        </p:nvSpPr>
        <p:spPr>
          <a:xfrm>
            <a:off x="8229600" y="1809750"/>
            <a:ext cx="3562350" cy="3333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question-q-2">
            <a:extLst>
              <a:ext uri="{FF2B5EF4-FFF2-40B4-BE49-F238E27FC236}">
                <a16:creationId xmlns:a16="http://schemas.microsoft.com/office/drawing/2014/main" id="{87D8E929-F5E3-4E97-87AF-2295B9028C1D}"/>
              </a:ext>
            </a:extLst>
          </p:cNvPr>
          <p:cNvSpPr>
            <a:spLocks noGrp="1"/>
          </p:cNvSpPr>
          <p:nvPr/>
        </p:nvSpPr>
        <p:spPr>
          <a:xfrm>
            <a:off x="8515350" y="2133600"/>
            <a:ext cx="2990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如何长期复用？</a:t>
            </a:r>
          </a:p>
        </p:txBody>
      </p:sp>
      <p:sp>
        <p:nvSpPr>
          <p:cNvPr id="16" name="question-body-2">
            <a:extLst>
              <a:ext uri="{FF2B5EF4-FFF2-40B4-BE49-F238E27FC236}">
                <a16:creationId xmlns:a16="http://schemas.microsoft.com/office/drawing/2014/main" id="{D661FA03-ED5D-41A0-9A66-CF6280FDBE5F}"/>
              </a:ext>
            </a:extLst>
          </p:cNvPr>
          <p:cNvSpPr>
            <a:spLocks noGrp="1"/>
          </p:cNvSpPr>
          <p:nvPr/>
        </p:nvSpPr>
        <p:spPr>
          <a:xfrm>
            <a:off x="8515350" y="2876550"/>
            <a:ext cx="2990850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把个人工具变为有依赖、有测试</a:t>
            </a:r>
          </a:p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有审核、有反馈的共享能力</a:t>
            </a:r>
          </a:p>
        </p:txBody>
      </p:sp>
      <p:sp>
        <p:nvSpPr>
          <p:cNvPr id="17" name="question-answer-2">
            <a:extLst>
              <a:ext uri="{FF2B5EF4-FFF2-40B4-BE49-F238E27FC236}">
                <a16:creationId xmlns:a16="http://schemas.microsoft.com/office/drawing/2014/main" id="{677783AC-F60B-46A1-8470-66C113EAB7DF}"/>
              </a:ext>
            </a:extLst>
          </p:cNvPr>
          <p:cNvSpPr>
            <a:spLocks noGrp="1"/>
          </p:cNvSpPr>
          <p:nvPr/>
        </p:nvSpPr>
        <p:spPr>
          <a:xfrm>
            <a:off x="8515350" y="4533900"/>
            <a:ext cx="2990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Skill 治理 + 协作责任制</a:t>
            </a:r>
          </a:p>
        </p:txBody>
      </p:sp>
      <p:sp>
        <p:nvSpPr>
          <p:cNvPr id="18" name="question-dot-2">
            <a:extLst>
              <a:ext uri="{FF2B5EF4-FFF2-40B4-BE49-F238E27FC236}">
                <a16:creationId xmlns:a16="http://schemas.microsoft.com/office/drawing/2014/main" id="{2E0AAEE1-1A9F-4B08-83E5-A190CACE5C32}"/>
              </a:ext>
            </a:extLst>
          </p:cNvPr>
          <p:cNvSpPr>
            <a:spLocks noGrp="1"/>
          </p:cNvSpPr>
          <p:nvPr/>
        </p:nvSpPr>
        <p:spPr>
          <a:xfrm>
            <a:off x="8229600" y="5514975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70212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accent-5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5">
            <a:extLst>
              <a:ext uri="{FF2B5EF4-FFF2-40B4-BE49-F238E27FC236}">
                <a16:creationId xmlns:a16="http://schemas.microsoft.com/office/drawing/2014/main" id="{C06F8FA3-4C20-4C2D-B059-9AE25544E819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第一阶段只做能闭环的核心范围</a:t>
            </a:r>
          </a:p>
        </p:txBody>
      </p:sp>
      <p:sp>
        <p:nvSpPr>
          <p:cNvPr id="3" name="scope-left-label">
            <a:extLst>
              <a:ext uri="{FF2B5EF4-FFF2-40B4-BE49-F238E27FC236}">
                <a16:creationId xmlns:a16="http://schemas.microsoft.com/office/drawing/2014/main" id="{2E5788AE-9BBA-4DF1-99C5-ED4409E92DFF}"/>
              </a:ext>
            </a:extLst>
          </p:cNvPr>
          <p:cNvSpPr>
            <a:spLocks noGrp="1"/>
          </p:cNvSpPr>
          <p:nvPr/>
        </p:nvSpPr>
        <p:spPr>
          <a:xfrm>
            <a:off x="400050" y="17526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必须完成</a:t>
            </a:r>
          </a:p>
        </p:txBody>
      </p:sp>
      <p:sp>
        <p:nvSpPr>
          <p:cNvPr id="4" name="scope-right-label">
            <a:extLst>
              <a:ext uri="{FF2B5EF4-FFF2-40B4-BE49-F238E27FC236}">
                <a16:creationId xmlns:a16="http://schemas.microsoft.com/office/drawing/2014/main" id="{2DD557AD-CB00-47DF-A6CA-89B754040183}"/>
              </a:ext>
            </a:extLst>
          </p:cNvPr>
          <p:cNvSpPr>
            <a:spLocks noGrp="1"/>
          </p:cNvSpPr>
          <p:nvPr/>
        </p:nvSpPr>
        <p:spPr>
          <a:xfrm>
            <a:off x="6267450" y="1752600"/>
            <a:ext cx="552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暂不处理</a:t>
            </a:r>
          </a:p>
        </p:txBody>
      </p:sp>
      <p:sp>
        <p:nvSpPr>
          <p:cNvPr id="5" name="scope-left">
            <a:extLst>
              <a:ext uri="{FF2B5EF4-FFF2-40B4-BE49-F238E27FC236}">
                <a16:creationId xmlns:a16="http://schemas.microsoft.com/office/drawing/2014/main" id="{CF2526CD-B715-406A-90B6-C8F6643818A3}"/>
              </a:ext>
            </a:extLst>
          </p:cNvPr>
          <p:cNvSpPr>
            <a:spLocks noGrp="1"/>
          </p:cNvSpPr>
          <p:nvPr/>
        </p:nvSpPr>
        <p:spPr>
          <a:xfrm>
            <a:off x="400050" y="2324100"/>
            <a:ext cx="5334000" cy="32766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6" name="scope-right">
            <a:extLst>
              <a:ext uri="{FF2B5EF4-FFF2-40B4-BE49-F238E27FC236}">
                <a16:creationId xmlns:a16="http://schemas.microsoft.com/office/drawing/2014/main" id="{7B6C779A-28F6-480E-B964-C93F30F48C77}"/>
              </a:ext>
            </a:extLst>
          </p:cNvPr>
          <p:cNvSpPr>
            <a:spLocks noGrp="1"/>
          </p:cNvSpPr>
          <p:nvPr/>
        </p:nvSpPr>
        <p:spPr>
          <a:xfrm>
            <a:off x="6267450" y="2324100"/>
            <a:ext cx="5524500" cy="32766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scope-in-dot-0">
            <a:extLst>
              <a:ext uri="{FF2B5EF4-FFF2-40B4-BE49-F238E27FC236}">
                <a16:creationId xmlns:a16="http://schemas.microsoft.com/office/drawing/2014/main" id="{0296D75B-7824-402F-8301-C3DAB64E4FA2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95250" cy="952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scope-in-0">
            <a:extLst>
              <a:ext uri="{FF2B5EF4-FFF2-40B4-BE49-F238E27FC236}">
                <a16:creationId xmlns:a16="http://schemas.microsoft.com/office/drawing/2014/main" id="{A801E18F-AA33-41B9-89A9-9FB1AA100639}"/>
              </a:ext>
            </a:extLst>
          </p:cNvPr>
          <p:cNvSpPr>
            <a:spLocks noGrp="1"/>
          </p:cNvSpPr>
          <p:nvPr/>
        </p:nvSpPr>
        <p:spPr>
          <a:xfrm>
            <a:off x="933450" y="2590800"/>
            <a:ext cx="4333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文献：上传—处理—审核—发布—检索—问答</a:t>
            </a:r>
          </a:p>
        </p:txBody>
      </p:sp>
      <p:sp>
        <p:nvSpPr>
          <p:cNvPr id="9" name="scope-in-dot-1">
            <a:extLst>
              <a:ext uri="{FF2B5EF4-FFF2-40B4-BE49-F238E27FC236}">
                <a16:creationId xmlns:a16="http://schemas.microsoft.com/office/drawing/2014/main" id="{459F7E6F-A508-4C9F-92F5-F5C09C5A8B41}"/>
              </a:ext>
            </a:extLst>
          </p:cNvPr>
          <p:cNvSpPr>
            <a:spLocks noGrp="1"/>
          </p:cNvSpPr>
          <p:nvPr/>
        </p:nvSpPr>
        <p:spPr>
          <a:xfrm>
            <a:off x="685800" y="3390900"/>
            <a:ext cx="95250" cy="952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scope-in-1">
            <a:extLst>
              <a:ext uri="{FF2B5EF4-FFF2-40B4-BE49-F238E27FC236}">
                <a16:creationId xmlns:a16="http://schemas.microsoft.com/office/drawing/2014/main" id="{1D04D03A-F8DB-400B-948E-8841EE6E15F8}"/>
              </a:ext>
            </a:extLst>
          </p:cNvPr>
          <p:cNvSpPr>
            <a:spLocks noGrp="1"/>
          </p:cNvSpPr>
          <p:nvPr/>
        </p:nvSpPr>
        <p:spPr>
          <a:xfrm>
            <a:off x="933450" y="3257550"/>
            <a:ext cx="4333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公式与笔记：上传、整理、审核和搜索</a:t>
            </a:r>
          </a:p>
        </p:txBody>
      </p:sp>
      <p:sp>
        <p:nvSpPr>
          <p:cNvPr id="11" name="scope-in-dot-2">
            <a:extLst>
              <a:ext uri="{FF2B5EF4-FFF2-40B4-BE49-F238E27FC236}">
                <a16:creationId xmlns:a16="http://schemas.microsoft.com/office/drawing/2014/main" id="{267CD632-9572-42B2-A737-0F2B21F62535}"/>
              </a:ext>
            </a:extLst>
          </p:cNvPr>
          <p:cNvSpPr>
            <a:spLocks noGrp="1"/>
          </p:cNvSpPr>
          <p:nvPr/>
        </p:nvSpPr>
        <p:spPr>
          <a:xfrm>
            <a:off x="685800" y="4057650"/>
            <a:ext cx="95250" cy="952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scope-in-2">
            <a:extLst>
              <a:ext uri="{FF2B5EF4-FFF2-40B4-BE49-F238E27FC236}">
                <a16:creationId xmlns:a16="http://schemas.microsoft.com/office/drawing/2014/main" id="{2E00EE8B-9375-4162-ACE5-5CD269C030CB}"/>
              </a:ext>
            </a:extLst>
          </p:cNvPr>
          <p:cNvSpPr>
            <a:spLocks noGrp="1"/>
          </p:cNvSpPr>
          <p:nvPr/>
        </p:nvSpPr>
        <p:spPr>
          <a:xfrm>
            <a:off x="933450" y="3924300"/>
            <a:ext cx="4333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代码：说明、依赖、版本与搜索</a:t>
            </a:r>
          </a:p>
        </p:txBody>
      </p:sp>
      <p:sp>
        <p:nvSpPr>
          <p:cNvPr id="13" name="scope-in-dot-3">
            <a:extLst>
              <a:ext uri="{FF2B5EF4-FFF2-40B4-BE49-F238E27FC236}">
                <a16:creationId xmlns:a16="http://schemas.microsoft.com/office/drawing/2014/main" id="{7F682148-2B09-4EA4-BBC1-BC55B21FA62C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95250" cy="952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scope-in-3">
            <a:extLst>
              <a:ext uri="{FF2B5EF4-FFF2-40B4-BE49-F238E27FC236}">
                <a16:creationId xmlns:a16="http://schemas.microsoft.com/office/drawing/2014/main" id="{695D1DA6-CCFB-4045-80D4-61B5CA31C7B1}"/>
              </a:ext>
            </a:extLst>
          </p:cNvPr>
          <p:cNvSpPr>
            <a:spLocks noGrp="1"/>
          </p:cNvSpPr>
          <p:nvPr/>
        </p:nvSpPr>
        <p:spPr>
          <a:xfrm>
            <a:off x="933450" y="4591050"/>
            <a:ext cx="43338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Skill：上传、审核、版本与下载</a:t>
            </a:r>
          </a:p>
        </p:txBody>
      </p:sp>
      <p:sp>
        <p:nvSpPr>
          <p:cNvPr id="15" name="scope-out-dot-0">
            <a:extLst>
              <a:ext uri="{FF2B5EF4-FFF2-40B4-BE49-F238E27FC236}">
                <a16:creationId xmlns:a16="http://schemas.microsoft.com/office/drawing/2014/main" id="{40E20918-BF4D-4DEB-A95C-D5736EC231A6}"/>
              </a:ext>
            </a:extLst>
          </p:cNvPr>
          <p:cNvSpPr>
            <a:spLocks noGrp="1"/>
          </p:cNvSpPr>
          <p:nvPr/>
        </p:nvSpPr>
        <p:spPr>
          <a:xfrm>
            <a:off x="6553200" y="2724150"/>
            <a:ext cx="95250" cy="95250"/>
          </a:xfrm>
          <a:prstGeom prst="ellipse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scope-out-0">
            <a:extLst>
              <a:ext uri="{FF2B5EF4-FFF2-40B4-BE49-F238E27FC236}">
                <a16:creationId xmlns:a16="http://schemas.microsoft.com/office/drawing/2014/main" id="{625C302D-7DD2-46AB-A2F6-206904D53AE4}"/>
              </a:ext>
            </a:extLst>
          </p:cNvPr>
          <p:cNvSpPr>
            <a:spLocks noGrp="1"/>
          </p:cNvSpPr>
          <p:nvPr/>
        </p:nvSpPr>
        <p:spPr>
          <a:xfrm>
            <a:off x="6800850" y="2590800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实验数据与项目管理</a:t>
            </a:r>
          </a:p>
        </p:txBody>
      </p:sp>
      <p:sp>
        <p:nvSpPr>
          <p:cNvPr id="17" name="scope-out-dot-1">
            <a:extLst>
              <a:ext uri="{FF2B5EF4-FFF2-40B4-BE49-F238E27FC236}">
                <a16:creationId xmlns:a16="http://schemas.microsoft.com/office/drawing/2014/main" id="{E312B138-1975-40EB-BE81-A72AB2D01402}"/>
              </a:ext>
            </a:extLst>
          </p:cNvPr>
          <p:cNvSpPr>
            <a:spLocks noGrp="1"/>
          </p:cNvSpPr>
          <p:nvPr/>
        </p:nvSpPr>
        <p:spPr>
          <a:xfrm>
            <a:off x="6553200" y="3390900"/>
            <a:ext cx="95250" cy="95250"/>
          </a:xfrm>
          <a:prstGeom prst="ellipse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8" name="scope-out-1">
            <a:extLst>
              <a:ext uri="{FF2B5EF4-FFF2-40B4-BE49-F238E27FC236}">
                <a16:creationId xmlns:a16="http://schemas.microsoft.com/office/drawing/2014/main" id="{CEA8DCD2-95B2-4D2D-BC17-D5D89EA0FD6E}"/>
              </a:ext>
            </a:extLst>
          </p:cNvPr>
          <p:cNvSpPr>
            <a:spLocks noGrp="1"/>
          </p:cNvSpPr>
          <p:nvPr/>
        </p:nvSpPr>
        <p:spPr>
          <a:xfrm>
            <a:off x="6800850" y="3257550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知识关系图与联网 Agent</a:t>
            </a:r>
          </a:p>
        </p:txBody>
      </p:sp>
      <p:sp>
        <p:nvSpPr>
          <p:cNvPr id="19" name="scope-out-dot-2">
            <a:extLst>
              <a:ext uri="{FF2B5EF4-FFF2-40B4-BE49-F238E27FC236}">
                <a16:creationId xmlns:a16="http://schemas.microsoft.com/office/drawing/2014/main" id="{5344B6E9-CF90-4E1C-9FDE-54A7BC23BF8C}"/>
              </a:ext>
            </a:extLst>
          </p:cNvPr>
          <p:cNvSpPr>
            <a:spLocks noGrp="1"/>
          </p:cNvSpPr>
          <p:nvPr/>
        </p:nvSpPr>
        <p:spPr>
          <a:xfrm>
            <a:off x="6553200" y="4057650"/>
            <a:ext cx="95250" cy="95250"/>
          </a:xfrm>
          <a:prstGeom prst="ellipse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scope-out-2">
            <a:extLst>
              <a:ext uri="{FF2B5EF4-FFF2-40B4-BE49-F238E27FC236}">
                <a16:creationId xmlns:a16="http://schemas.microsoft.com/office/drawing/2014/main" id="{0C2E1F6D-6017-45B8-BE96-B65EF7913994}"/>
              </a:ext>
            </a:extLst>
          </p:cNvPr>
          <p:cNvSpPr>
            <a:spLocks noGrp="1"/>
          </p:cNvSpPr>
          <p:nvPr/>
        </p:nvSpPr>
        <p:spPr>
          <a:xfrm>
            <a:off x="6800850" y="3924300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自动运行代码、自动安装 Skill</a:t>
            </a:r>
          </a:p>
        </p:txBody>
      </p:sp>
      <p:sp>
        <p:nvSpPr>
          <p:cNvPr id="21" name="scope-out-dot-3">
            <a:extLst>
              <a:ext uri="{FF2B5EF4-FFF2-40B4-BE49-F238E27FC236}">
                <a16:creationId xmlns:a16="http://schemas.microsoft.com/office/drawing/2014/main" id="{42AC527A-7832-4A42-BCB0-D70324275E39}"/>
              </a:ext>
            </a:extLst>
          </p:cNvPr>
          <p:cNvSpPr>
            <a:spLocks noGrp="1"/>
          </p:cNvSpPr>
          <p:nvPr/>
        </p:nvSpPr>
        <p:spPr>
          <a:xfrm>
            <a:off x="6553200" y="4724400"/>
            <a:ext cx="95250" cy="95250"/>
          </a:xfrm>
          <a:prstGeom prst="ellipse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2" name="scope-out-3">
            <a:extLst>
              <a:ext uri="{FF2B5EF4-FFF2-40B4-BE49-F238E27FC236}">
                <a16:creationId xmlns:a16="http://schemas.microsoft.com/office/drawing/2014/main" id="{9D701F73-394F-4F68-999C-EC327F540F3B}"/>
              </a:ext>
            </a:extLst>
          </p:cNvPr>
          <p:cNvSpPr>
            <a:spLocks noGrp="1"/>
          </p:cNvSpPr>
          <p:nvPr/>
        </p:nvSpPr>
        <p:spPr>
          <a:xfrm>
            <a:off x="6800850" y="4591050"/>
            <a:ext cx="4476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复杂项目权限与移动端复杂操作</a:t>
            </a:r>
          </a:p>
        </p:txBody>
      </p:sp>
      <p:sp>
        <p:nvSpPr>
          <p:cNvPr id="23" name="scope-principle">
            <a:extLst>
              <a:ext uri="{FF2B5EF4-FFF2-40B4-BE49-F238E27FC236}">
                <a16:creationId xmlns:a16="http://schemas.microsoft.com/office/drawing/2014/main" id="{3C7127EC-8F51-49D3-B1F2-344F9CD0CAB9}"/>
              </a:ext>
            </a:extLst>
          </p:cNvPr>
          <p:cNvSpPr>
            <a:spLocks noGrp="1"/>
          </p:cNvSpPr>
          <p:nvPr/>
        </p:nvSpPr>
        <p:spPr>
          <a:xfrm>
            <a:off x="400050" y="5848350"/>
            <a:ext cx="857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边界原则：先打通完整流程，再增加高级能力。</a:t>
            </a:r>
          </a:p>
        </p:txBody>
      </p:sp>
    </p:spTree>
    <p:extLst>
      <p:ext uri="{BB962C8B-B14F-4D97-AF65-F5344CB8AC3E}">
        <p14:creationId xmlns:p14="http://schemas.microsoft.com/office/powerpoint/2010/main" val="1653602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accent-6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6">
            <a:extLst>
              <a:ext uri="{FF2B5EF4-FFF2-40B4-BE49-F238E27FC236}">
                <a16:creationId xmlns:a16="http://schemas.microsoft.com/office/drawing/2014/main" id="{C58133E3-FEDD-428E-9973-C19970A6A88A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五个业务中心建立能力，四类基础设施承载运行</a:t>
            </a:r>
          </a:p>
        </p:txBody>
      </p:sp>
      <p:sp>
        <p:nvSpPr>
          <p:cNvPr id="3" name="arch-user">
            <a:extLst>
              <a:ext uri="{FF2B5EF4-FFF2-40B4-BE49-F238E27FC236}">
                <a16:creationId xmlns:a16="http://schemas.microsoft.com/office/drawing/2014/main" id="{9F0A058D-D226-46D4-8BBE-F53D43C47A51}"/>
              </a:ext>
            </a:extLst>
          </p:cNvPr>
          <p:cNvSpPr>
            <a:spLocks noGrp="1"/>
          </p:cNvSpPr>
          <p:nvPr/>
        </p:nvSpPr>
        <p:spPr>
          <a:xfrm>
            <a:off x="400050" y="1638300"/>
            <a:ext cx="113919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课题组成员 · 管理员 · 开发协作者</a:t>
            </a:r>
          </a:p>
        </p:txBody>
      </p:sp>
      <p:cxnSp>
        <p:nvCxnSpPr>
          <p:cNvPr id="33" name="arch-user-line"/>
          <p:cNvCxnSpPr/>
          <p:nvPr/>
        </p:nvCxnSpPr>
        <p:spPr>
          <a:xfrm>
            <a:off x="6096000" y="2000250"/>
            <a:ext cx="0" cy="28575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arch-center-0">
            <a:extLst>
              <a:ext uri="{FF2B5EF4-FFF2-40B4-BE49-F238E27FC236}">
                <a16:creationId xmlns:a16="http://schemas.microsoft.com/office/drawing/2014/main" id="{E180191E-343A-4284-88F2-6D3009F84B23}"/>
              </a:ext>
            </a:extLst>
          </p:cNvPr>
          <p:cNvSpPr>
            <a:spLocks noGrp="1"/>
          </p:cNvSpPr>
          <p:nvPr/>
        </p:nvSpPr>
        <p:spPr>
          <a:xfrm>
            <a:off x="400050" y="2286000"/>
            <a:ext cx="2047875" cy="1143000"/>
          </a:xfrm>
          <a:prstGeom prst="roundRect">
            <a:avLst>
              <a:gd name="adj" fmla="val 6667"/>
            </a:avLst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6" name="arch-center-t-0">
            <a:extLst>
              <a:ext uri="{FF2B5EF4-FFF2-40B4-BE49-F238E27FC236}">
                <a16:creationId xmlns:a16="http://schemas.microsoft.com/office/drawing/2014/main" id="{7D5DDA2A-E540-4040-96F0-20F931906F0C}"/>
              </a:ext>
            </a:extLst>
          </p:cNvPr>
          <p:cNvSpPr>
            <a:spLocks noGrp="1"/>
          </p:cNvSpPr>
          <p:nvPr/>
        </p:nvSpPr>
        <p:spPr>
          <a:xfrm>
            <a:off x="533400" y="2514600"/>
            <a:ext cx="17811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科研知识中心</a:t>
            </a:r>
          </a:p>
        </p:txBody>
      </p:sp>
      <p:sp>
        <p:nvSpPr>
          <p:cNvPr id="7" name="arch-center-1">
            <a:extLst>
              <a:ext uri="{FF2B5EF4-FFF2-40B4-BE49-F238E27FC236}">
                <a16:creationId xmlns:a16="http://schemas.microsoft.com/office/drawing/2014/main" id="{FEE748C0-489C-40DF-A256-C9CA9AC4EF18}"/>
              </a:ext>
            </a:extLst>
          </p:cNvPr>
          <p:cNvSpPr>
            <a:spLocks noGrp="1"/>
          </p:cNvSpPr>
          <p:nvPr/>
        </p:nvSpPr>
        <p:spPr>
          <a:xfrm>
            <a:off x="2676525" y="2286000"/>
            <a:ext cx="2047875" cy="1143000"/>
          </a:xfrm>
          <a:prstGeom prst="roundRect">
            <a:avLst>
              <a:gd name="adj" fmla="val 6667"/>
            </a:avLst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arch-center-t-1">
            <a:extLst>
              <a:ext uri="{FF2B5EF4-FFF2-40B4-BE49-F238E27FC236}">
                <a16:creationId xmlns:a16="http://schemas.microsoft.com/office/drawing/2014/main" id="{8BA2A7D1-2FBD-4E92-B30F-344AE2A45D62}"/>
              </a:ext>
            </a:extLst>
          </p:cNvPr>
          <p:cNvSpPr>
            <a:spLocks noGrp="1"/>
          </p:cNvSpPr>
          <p:nvPr/>
        </p:nvSpPr>
        <p:spPr>
          <a:xfrm>
            <a:off x="2809875" y="2514600"/>
            <a:ext cx="17811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智能检索与</a:t>
            </a:r>
          </a:p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中心</a:t>
            </a:r>
          </a:p>
        </p:txBody>
      </p:sp>
      <p:sp>
        <p:nvSpPr>
          <p:cNvPr id="9" name="arch-center-2">
            <a:extLst>
              <a:ext uri="{FF2B5EF4-FFF2-40B4-BE49-F238E27FC236}">
                <a16:creationId xmlns:a16="http://schemas.microsoft.com/office/drawing/2014/main" id="{B325F032-8F93-4E1F-8815-AF1F2AF0FFB9}"/>
              </a:ext>
            </a:extLst>
          </p:cNvPr>
          <p:cNvSpPr>
            <a:spLocks noGrp="1"/>
          </p:cNvSpPr>
          <p:nvPr/>
        </p:nvSpPr>
        <p:spPr>
          <a:xfrm>
            <a:off x="4953000" y="2286000"/>
            <a:ext cx="2047875" cy="1143000"/>
          </a:xfrm>
          <a:prstGeom prst="roundRect">
            <a:avLst>
              <a:gd name="adj" fmla="val 6667"/>
            </a:avLst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10" name="arch-center-t-2">
            <a:extLst>
              <a:ext uri="{FF2B5EF4-FFF2-40B4-BE49-F238E27FC236}">
                <a16:creationId xmlns:a16="http://schemas.microsoft.com/office/drawing/2014/main" id="{33FC4D7C-3E1F-4C9E-9606-5EAB8FB67EE6}"/>
              </a:ext>
            </a:extLst>
          </p:cNvPr>
          <p:cNvSpPr>
            <a:spLocks noGrp="1"/>
          </p:cNvSpPr>
          <p:nvPr/>
        </p:nvSpPr>
        <p:spPr>
          <a:xfrm>
            <a:off x="5086350" y="2514600"/>
            <a:ext cx="17811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科研 Skill 中心</a:t>
            </a:r>
          </a:p>
        </p:txBody>
      </p:sp>
      <p:sp>
        <p:nvSpPr>
          <p:cNvPr id="11" name="arch-center-3">
            <a:extLst>
              <a:ext uri="{FF2B5EF4-FFF2-40B4-BE49-F238E27FC236}">
                <a16:creationId xmlns:a16="http://schemas.microsoft.com/office/drawing/2014/main" id="{A6367ED4-4C91-43B9-8556-A796AC38A2F0}"/>
              </a:ext>
            </a:extLst>
          </p:cNvPr>
          <p:cNvSpPr>
            <a:spLocks noGrp="1"/>
          </p:cNvSpPr>
          <p:nvPr/>
        </p:nvSpPr>
        <p:spPr>
          <a:xfrm>
            <a:off x="7229475" y="2286000"/>
            <a:ext cx="2047875" cy="1143000"/>
          </a:xfrm>
          <a:prstGeom prst="roundRect">
            <a:avLst>
              <a:gd name="adj" fmla="val 6667"/>
            </a:avLst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12" name="arch-center-t-3">
            <a:extLst>
              <a:ext uri="{FF2B5EF4-FFF2-40B4-BE49-F238E27FC236}">
                <a16:creationId xmlns:a16="http://schemas.microsoft.com/office/drawing/2014/main" id="{DA6B36C9-FA59-4F8C-B98A-C8116E8AB0E1}"/>
              </a:ext>
            </a:extLst>
          </p:cNvPr>
          <p:cNvSpPr>
            <a:spLocks noGrp="1"/>
          </p:cNvSpPr>
          <p:nvPr/>
        </p:nvSpPr>
        <p:spPr>
          <a:xfrm>
            <a:off x="7362825" y="2514600"/>
            <a:ext cx="17811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用户协作中心</a:t>
            </a:r>
          </a:p>
        </p:txBody>
      </p:sp>
      <p:sp>
        <p:nvSpPr>
          <p:cNvPr id="13" name="arch-center-4">
            <a:extLst>
              <a:ext uri="{FF2B5EF4-FFF2-40B4-BE49-F238E27FC236}">
                <a16:creationId xmlns:a16="http://schemas.microsoft.com/office/drawing/2014/main" id="{6AA21356-F5D8-4DC2-9A8C-EA3552F00473}"/>
              </a:ext>
            </a:extLst>
          </p:cNvPr>
          <p:cNvSpPr>
            <a:spLocks noGrp="1"/>
          </p:cNvSpPr>
          <p:nvPr/>
        </p:nvSpPr>
        <p:spPr>
          <a:xfrm>
            <a:off x="9505950" y="2286000"/>
            <a:ext cx="2047875" cy="1143000"/>
          </a:xfrm>
          <a:prstGeom prst="roundRect">
            <a:avLst>
              <a:gd name="adj" fmla="val 6667"/>
            </a:avLst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14" name="arch-center-t-4">
            <a:extLst>
              <a:ext uri="{FF2B5EF4-FFF2-40B4-BE49-F238E27FC236}">
                <a16:creationId xmlns:a16="http://schemas.microsoft.com/office/drawing/2014/main" id="{ABCB1B8A-5F07-43FB-9CE7-584CFF9B1D8A}"/>
              </a:ext>
            </a:extLst>
          </p:cNvPr>
          <p:cNvSpPr>
            <a:spLocks noGrp="1"/>
          </p:cNvSpPr>
          <p:nvPr/>
        </p:nvSpPr>
        <p:spPr>
          <a:xfrm>
            <a:off x="9639300" y="2514600"/>
            <a:ext cx="17811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系统管理中心</a:t>
            </a:r>
          </a:p>
        </p:txBody>
      </p:sp>
      <p:cxnSp>
        <p:nvCxnSpPr>
          <p:cNvPr id="44" name="arch-layer-line"/>
          <p:cNvCxnSpPr/>
          <p:nvPr/>
        </p:nvCxnSpPr>
        <p:spPr>
          <a:xfrm>
            <a:off x="400050" y="3781425"/>
            <a:ext cx="11391900" cy="9525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6" name="arch-infra-label">
            <a:extLst>
              <a:ext uri="{FF2B5EF4-FFF2-40B4-BE49-F238E27FC236}">
                <a16:creationId xmlns:a16="http://schemas.microsoft.com/office/drawing/2014/main" id="{0E5F1700-1CBE-4910-8DFF-E611F5AE8A60}"/>
              </a:ext>
            </a:extLst>
          </p:cNvPr>
          <p:cNvSpPr>
            <a:spLocks noGrp="1"/>
          </p:cNvSpPr>
          <p:nvPr/>
        </p:nvSpPr>
        <p:spPr>
          <a:xfrm>
            <a:off x="400050" y="3933825"/>
            <a:ext cx="161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基础设施层</a:t>
            </a:r>
          </a:p>
        </p:txBody>
      </p:sp>
      <p:sp>
        <p:nvSpPr>
          <p:cNvPr id="17" name="arch-infra-0">
            <a:extLst>
              <a:ext uri="{FF2B5EF4-FFF2-40B4-BE49-F238E27FC236}">
                <a16:creationId xmlns:a16="http://schemas.microsoft.com/office/drawing/2014/main" id="{5EC25B74-5781-4E18-B0F1-E9B881B44BDA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2590800" cy="1143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8" name="arch-infra-h-0">
            <a:extLst>
              <a:ext uri="{FF2B5EF4-FFF2-40B4-BE49-F238E27FC236}">
                <a16:creationId xmlns:a16="http://schemas.microsoft.com/office/drawing/2014/main" id="{BE56A77D-9770-4E56-9F92-E3FDC47EC9A9}"/>
              </a:ext>
            </a:extLst>
          </p:cNvPr>
          <p:cNvSpPr>
            <a:spLocks noGrp="1"/>
          </p:cNvSpPr>
          <p:nvPr/>
        </p:nvSpPr>
        <p:spPr>
          <a:xfrm>
            <a:off x="590550" y="466725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NJU Box</a:t>
            </a:r>
          </a:p>
        </p:txBody>
      </p:sp>
      <p:sp>
        <p:nvSpPr>
          <p:cNvPr id="19" name="arch-infra-b-0">
            <a:extLst>
              <a:ext uri="{FF2B5EF4-FFF2-40B4-BE49-F238E27FC236}">
                <a16:creationId xmlns:a16="http://schemas.microsoft.com/office/drawing/2014/main" id="{036F6356-2DE2-4893-B2C7-EAB824BB88AF}"/>
              </a:ext>
            </a:extLst>
          </p:cNvPr>
          <p:cNvSpPr>
            <a:spLocks noGrp="1"/>
          </p:cNvSpPr>
          <p:nvPr/>
        </p:nvSpPr>
        <p:spPr>
          <a:xfrm>
            <a:off x="590550" y="5095875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文件与知识内容主存储</a:t>
            </a:r>
          </a:p>
        </p:txBody>
      </p:sp>
      <p:sp>
        <p:nvSpPr>
          <p:cNvPr id="20" name="arch-infra-1">
            <a:extLst>
              <a:ext uri="{FF2B5EF4-FFF2-40B4-BE49-F238E27FC236}">
                <a16:creationId xmlns:a16="http://schemas.microsoft.com/office/drawing/2014/main" id="{26231BC2-4FEE-4EA2-BE7C-36F23C01C433}"/>
              </a:ext>
            </a:extLst>
          </p:cNvPr>
          <p:cNvSpPr>
            <a:spLocks noGrp="1"/>
          </p:cNvSpPr>
          <p:nvPr/>
        </p:nvSpPr>
        <p:spPr>
          <a:xfrm>
            <a:off x="3248025" y="4457700"/>
            <a:ext cx="2590800" cy="1143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1" name="arch-infra-h-1">
            <a:extLst>
              <a:ext uri="{FF2B5EF4-FFF2-40B4-BE49-F238E27FC236}">
                <a16:creationId xmlns:a16="http://schemas.microsoft.com/office/drawing/2014/main" id="{819E45B1-5DF0-445B-A38B-52F1C7FB02DB}"/>
              </a:ext>
            </a:extLst>
          </p:cNvPr>
          <p:cNvSpPr>
            <a:spLocks noGrp="1"/>
          </p:cNvSpPr>
          <p:nvPr/>
        </p:nvSpPr>
        <p:spPr>
          <a:xfrm>
            <a:off x="3438525" y="466725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业务数据库</a:t>
            </a:r>
          </a:p>
        </p:txBody>
      </p:sp>
      <p:sp>
        <p:nvSpPr>
          <p:cNvPr id="22" name="arch-infra-b-1">
            <a:extLst>
              <a:ext uri="{FF2B5EF4-FFF2-40B4-BE49-F238E27FC236}">
                <a16:creationId xmlns:a16="http://schemas.microsoft.com/office/drawing/2014/main" id="{D21DFC61-70F5-4DD0-A728-41EF022FA02F}"/>
              </a:ext>
            </a:extLst>
          </p:cNvPr>
          <p:cNvSpPr>
            <a:spLocks noGrp="1"/>
          </p:cNvSpPr>
          <p:nvPr/>
        </p:nvSpPr>
        <p:spPr>
          <a:xfrm>
            <a:off x="3438525" y="5095875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用户、状态、权限与记录</a:t>
            </a:r>
          </a:p>
        </p:txBody>
      </p:sp>
      <p:sp>
        <p:nvSpPr>
          <p:cNvPr id="23" name="arch-infra-2">
            <a:extLst>
              <a:ext uri="{FF2B5EF4-FFF2-40B4-BE49-F238E27FC236}">
                <a16:creationId xmlns:a16="http://schemas.microsoft.com/office/drawing/2014/main" id="{479D62B7-DBBB-43FF-AF1F-46B146BA6625}"/>
              </a:ext>
            </a:extLst>
          </p:cNvPr>
          <p:cNvSpPr>
            <a:spLocks noGrp="1"/>
          </p:cNvSpPr>
          <p:nvPr/>
        </p:nvSpPr>
        <p:spPr>
          <a:xfrm>
            <a:off x="6096000" y="4457700"/>
            <a:ext cx="2590800" cy="11430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24" name="arch-infra-h-2">
            <a:extLst>
              <a:ext uri="{FF2B5EF4-FFF2-40B4-BE49-F238E27FC236}">
                <a16:creationId xmlns:a16="http://schemas.microsoft.com/office/drawing/2014/main" id="{F33E9A61-4855-43B1-911A-A900B83E0223}"/>
              </a:ext>
            </a:extLst>
          </p:cNvPr>
          <p:cNvSpPr>
            <a:spLocks noGrp="1"/>
          </p:cNvSpPr>
          <p:nvPr/>
        </p:nvSpPr>
        <p:spPr>
          <a:xfrm>
            <a:off x="6286500" y="466725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检索索引</a:t>
            </a:r>
          </a:p>
        </p:txBody>
      </p:sp>
      <p:sp>
        <p:nvSpPr>
          <p:cNvPr id="25" name="arch-infra-b-2">
            <a:extLst>
              <a:ext uri="{FF2B5EF4-FFF2-40B4-BE49-F238E27FC236}">
                <a16:creationId xmlns:a16="http://schemas.microsoft.com/office/drawing/2014/main" id="{EE7ECFB4-02E6-402F-8518-A2750C782E7C}"/>
              </a:ext>
            </a:extLst>
          </p:cNvPr>
          <p:cNvSpPr>
            <a:spLocks noGrp="1"/>
          </p:cNvSpPr>
          <p:nvPr/>
        </p:nvSpPr>
        <p:spPr>
          <a:xfrm>
            <a:off x="6286500" y="5095875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全文、关键词与语义检索</a:t>
            </a:r>
          </a:p>
        </p:txBody>
      </p:sp>
      <p:sp>
        <p:nvSpPr>
          <p:cNvPr id="26" name="arch-infra-3">
            <a:extLst>
              <a:ext uri="{FF2B5EF4-FFF2-40B4-BE49-F238E27FC236}">
                <a16:creationId xmlns:a16="http://schemas.microsoft.com/office/drawing/2014/main" id="{84AA1801-778C-4F40-BA59-D83F5E992731}"/>
              </a:ext>
            </a:extLst>
          </p:cNvPr>
          <p:cNvSpPr>
            <a:spLocks noGrp="1"/>
          </p:cNvSpPr>
          <p:nvPr/>
        </p:nvSpPr>
        <p:spPr>
          <a:xfrm>
            <a:off x="8943975" y="4457700"/>
            <a:ext cx="2590800" cy="1143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7" name="arch-infra-h-3">
            <a:extLst>
              <a:ext uri="{FF2B5EF4-FFF2-40B4-BE49-F238E27FC236}">
                <a16:creationId xmlns:a16="http://schemas.microsoft.com/office/drawing/2014/main" id="{6714C84D-4872-420B-9A41-808DF87B2B05}"/>
              </a:ext>
            </a:extLst>
          </p:cNvPr>
          <p:cNvSpPr>
            <a:spLocks noGrp="1"/>
          </p:cNvSpPr>
          <p:nvPr/>
        </p:nvSpPr>
        <p:spPr>
          <a:xfrm>
            <a:off x="9134475" y="4667250"/>
            <a:ext cx="2209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模型服务</a:t>
            </a:r>
          </a:p>
        </p:txBody>
      </p:sp>
      <p:sp>
        <p:nvSpPr>
          <p:cNvPr id="28" name="arch-infra-b-3">
            <a:extLst>
              <a:ext uri="{FF2B5EF4-FFF2-40B4-BE49-F238E27FC236}">
                <a16:creationId xmlns:a16="http://schemas.microsoft.com/office/drawing/2014/main" id="{8CDCEA9B-AD8D-4D1C-9B89-376A150FF753}"/>
              </a:ext>
            </a:extLst>
          </p:cNvPr>
          <p:cNvSpPr>
            <a:spLocks noGrp="1"/>
          </p:cNvSpPr>
          <p:nvPr/>
        </p:nvSpPr>
        <p:spPr>
          <a:xfrm>
            <a:off x="9134475" y="5095875"/>
            <a:ext cx="2209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摘要、整理、向量与问答</a:t>
            </a:r>
          </a:p>
        </p:txBody>
      </p:sp>
      <p:sp>
        <p:nvSpPr>
          <p:cNvPr id="29" name="arch-github">
            <a:extLst>
              <a:ext uri="{FF2B5EF4-FFF2-40B4-BE49-F238E27FC236}">
                <a16:creationId xmlns:a16="http://schemas.microsoft.com/office/drawing/2014/main" id="{A33C9849-62FB-4701-8C5A-4F3B6ED45E04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066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GitHub：平台与 Skill 源代码、测试、规范和部署配置；不承载大规模科研文件。</a:t>
            </a:r>
          </a:p>
        </p:txBody>
      </p:sp>
    </p:spTree>
    <p:extLst>
      <p:ext uri="{BB962C8B-B14F-4D97-AF65-F5344CB8AC3E}">
        <p14:creationId xmlns:p14="http://schemas.microsoft.com/office/powerpoint/2010/main" val="125427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accent-7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7">
            <a:extLst>
              <a:ext uri="{FF2B5EF4-FFF2-40B4-BE49-F238E27FC236}">
                <a16:creationId xmlns:a16="http://schemas.microsoft.com/office/drawing/2014/main" id="{D249C7AC-0578-47B7-A0BE-82231325BAD3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第一阶段统一管理四类科研知识对象</a:t>
            </a:r>
          </a:p>
        </p:txBody>
      </p:sp>
      <p:sp>
        <p:nvSpPr>
          <p:cNvPr id="3" name="knowledge-0">
            <a:extLst>
              <a:ext uri="{FF2B5EF4-FFF2-40B4-BE49-F238E27FC236}">
                <a16:creationId xmlns:a16="http://schemas.microsoft.com/office/drawing/2014/main" id="{73BE382B-1489-4E3D-9191-1CA22B89CBF3}"/>
              </a:ext>
            </a:extLst>
          </p:cNvPr>
          <p:cNvSpPr>
            <a:spLocks noGrp="1"/>
          </p:cNvSpPr>
          <p:nvPr/>
        </p:nvSpPr>
        <p:spPr>
          <a:xfrm>
            <a:off x="400050" y="2000250"/>
            <a:ext cx="5534025" cy="1619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knowledge-h-0">
            <a:extLst>
              <a:ext uri="{FF2B5EF4-FFF2-40B4-BE49-F238E27FC236}">
                <a16:creationId xmlns:a16="http://schemas.microsoft.com/office/drawing/2014/main" id="{8787E2C0-0F3D-4B83-AF47-02784ED8A2D6}"/>
              </a:ext>
            </a:extLst>
          </p:cNvPr>
          <p:cNvSpPr>
            <a:spLocks noGrp="1"/>
          </p:cNvSpPr>
          <p:nvPr/>
        </p:nvSpPr>
        <p:spPr>
          <a:xfrm>
            <a:off x="647700" y="22288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文献</a:t>
            </a:r>
          </a:p>
        </p:txBody>
      </p:sp>
      <p:sp>
        <p:nvSpPr>
          <p:cNvPr id="5" name="knowledge-b-0">
            <a:extLst>
              <a:ext uri="{FF2B5EF4-FFF2-40B4-BE49-F238E27FC236}">
                <a16:creationId xmlns:a16="http://schemas.microsoft.com/office/drawing/2014/main" id="{0BF2C570-9394-4DC5-B16B-E77D303E63F4}"/>
              </a:ext>
            </a:extLst>
          </p:cNvPr>
          <p:cNvSpPr>
            <a:spLocks noGrp="1"/>
          </p:cNvSpPr>
          <p:nvPr/>
        </p:nvSpPr>
        <p:spPr>
          <a:xfrm>
            <a:off x="647700" y="271462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PDF · 元数据 · 中文摘要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问题/方法/结果 · 标签 · 引用</a:t>
            </a:r>
          </a:p>
        </p:txBody>
      </p:sp>
      <p:sp>
        <p:nvSpPr>
          <p:cNvPr id="6" name="knowledge-1">
            <a:extLst>
              <a:ext uri="{FF2B5EF4-FFF2-40B4-BE49-F238E27FC236}">
                <a16:creationId xmlns:a16="http://schemas.microsoft.com/office/drawing/2014/main" id="{1105A661-6F87-473B-9EA4-D208C6FCA432}"/>
              </a:ext>
            </a:extLst>
          </p:cNvPr>
          <p:cNvSpPr>
            <a:spLocks noGrp="1"/>
          </p:cNvSpPr>
          <p:nvPr/>
        </p:nvSpPr>
        <p:spPr>
          <a:xfrm>
            <a:off x="6257925" y="2000250"/>
            <a:ext cx="5534025" cy="1619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knowledge-h-1">
            <a:extLst>
              <a:ext uri="{FF2B5EF4-FFF2-40B4-BE49-F238E27FC236}">
                <a16:creationId xmlns:a16="http://schemas.microsoft.com/office/drawing/2014/main" id="{9B326C7D-308F-4558-A041-B694597C090B}"/>
              </a:ext>
            </a:extLst>
          </p:cNvPr>
          <p:cNvSpPr>
            <a:spLocks noGrp="1"/>
          </p:cNvSpPr>
          <p:nvPr/>
        </p:nvSpPr>
        <p:spPr>
          <a:xfrm>
            <a:off x="6505575" y="2228850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公式与笔记</a:t>
            </a:r>
          </a:p>
        </p:txBody>
      </p:sp>
      <p:sp>
        <p:nvSpPr>
          <p:cNvPr id="8" name="knowledge-b-1">
            <a:extLst>
              <a:ext uri="{FF2B5EF4-FFF2-40B4-BE49-F238E27FC236}">
                <a16:creationId xmlns:a16="http://schemas.microsoft.com/office/drawing/2014/main" id="{EAE6749A-52DD-4CA8-A16F-764288118B78}"/>
              </a:ext>
            </a:extLst>
          </p:cNvPr>
          <p:cNvSpPr>
            <a:spLocks noGrp="1"/>
          </p:cNvSpPr>
          <p:nvPr/>
        </p:nvSpPr>
        <p:spPr>
          <a:xfrm>
            <a:off x="6505575" y="2714625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PDF/Word/LaTeX/图片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Markdown 整理 · 公式检索 · 错误标记</a:t>
            </a:r>
          </a:p>
        </p:txBody>
      </p:sp>
      <p:sp>
        <p:nvSpPr>
          <p:cNvPr id="9" name="knowledge-2">
            <a:extLst>
              <a:ext uri="{FF2B5EF4-FFF2-40B4-BE49-F238E27FC236}">
                <a16:creationId xmlns:a16="http://schemas.microsoft.com/office/drawing/2014/main" id="{767B9A83-B26C-4E65-8C67-A39BDCB919F2}"/>
              </a:ext>
            </a:extLst>
          </p:cNvPr>
          <p:cNvSpPr>
            <a:spLocks noGrp="1"/>
          </p:cNvSpPr>
          <p:nvPr/>
        </p:nvSpPr>
        <p:spPr>
          <a:xfrm>
            <a:off x="400050" y="4048125"/>
            <a:ext cx="5534025" cy="1619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knowledge-h-2">
            <a:extLst>
              <a:ext uri="{FF2B5EF4-FFF2-40B4-BE49-F238E27FC236}">
                <a16:creationId xmlns:a16="http://schemas.microsoft.com/office/drawing/2014/main" id="{41160AEC-A367-4C7D-BFCA-209A2CDC403C}"/>
              </a:ext>
            </a:extLst>
          </p:cNvPr>
          <p:cNvSpPr>
            <a:spLocks noGrp="1"/>
          </p:cNvSpPr>
          <p:nvPr/>
        </p:nvSpPr>
        <p:spPr>
          <a:xfrm>
            <a:off x="647700" y="427672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代码与脚本</a:t>
            </a:r>
          </a:p>
        </p:txBody>
      </p:sp>
      <p:sp>
        <p:nvSpPr>
          <p:cNvPr id="11" name="knowledge-b-2">
            <a:extLst>
              <a:ext uri="{FF2B5EF4-FFF2-40B4-BE49-F238E27FC236}">
                <a16:creationId xmlns:a16="http://schemas.microsoft.com/office/drawing/2014/main" id="{4D03AC1D-81B5-4B55-AEDC-15645D05A800}"/>
              </a:ext>
            </a:extLst>
          </p:cNvPr>
          <p:cNvSpPr>
            <a:spLocks noGrp="1"/>
          </p:cNvSpPr>
          <p:nvPr/>
        </p:nvSpPr>
        <p:spPr>
          <a:xfrm>
            <a:off x="647700" y="476250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Python/MATLAB/Notebook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功能 · 依赖 · 作者 · 版本 · 下载</a:t>
            </a:r>
          </a:p>
        </p:txBody>
      </p:sp>
      <p:sp>
        <p:nvSpPr>
          <p:cNvPr id="12" name="knowledge-3">
            <a:extLst>
              <a:ext uri="{FF2B5EF4-FFF2-40B4-BE49-F238E27FC236}">
                <a16:creationId xmlns:a16="http://schemas.microsoft.com/office/drawing/2014/main" id="{351B9D23-070E-4AF2-A1C1-A3142C435DFF}"/>
              </a:ext>
            </a:extLst>
          </p:cNvPr>
          <p:cNvSpPr>
            <a:spLocks noGrp="1"/>
          </p:cNvSpPr>
          <p:nvPr/>
        </p:nvSpPr>
        <p:spPr>
          <a:xfrm>
            <a:off x="6257925" y="4048125"/>
            <a:ext cx="5534025" cy="16192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3" name="knowledge-h-3">
            <a:extLst>
              <a:ext uri="{FF2B5EF4-FFF2-40B4-BE49-F238E27FC236}">
                <a16:creationId xmlns:a16="http://schemas.microsoft.com/office/drawing/2014/main" id="{3DEBEECC-A6F3-4CD2-9CF5-0C60585F2E3A}"/>
              </a:ext>
            </a:extLst>
          </p:cNvPr>
          <p:cNvSpPr>
            <a:spLocks noGrp="1"/>
          </p:cNvSpPr>
          <p:nvPr/>
        </p:nvSpPr>
        <p:spPr>
          <a:xfrm>
            <a:off x="6505575" y="427672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科研 Skill</a:t>
            </a:r>
          </a:p>
        </p:txBody>
      </p:sp>
      <p:sp>
        <p:nvSpPr>
          <p:cNvPr id="14" name="knowledge-b-3">
            <a:extLst>
              <a:ext uri="{FF2B5EF4-FFF2-40B4-BE49-F238E27FC236}">
                <a16:creationId xmlns:a16="http://schemas.microsoft.com/office/drawing/2014/main" id="{C0B4EBEC-B513-496B-950A-56023E0702AA}"/>
              </a:ext>
            </a:extLst>
          </p:cNvPr>
          <p:cNvSpPr>
            <a:spLocks noGrp="1"/>
          </p:cNvSpPr>
          <p:nvPr/>
        </p:nvSpPr>
        <p:spPr>
          <a:xfrm>
            <a:off x="6505575" y="4762500"/>
            <a:ext cx="4953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Prompt/脚本/模板/工作流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输入输出 · 依赖 · 示例 · 审核</a:t>
            </a:r>
          </a:p>
        </p:txBody>
      </p:sp>
      <p:sp>
        <p:nvSpPr>
          <p:cNvPr id="15" name="knowledge-expansion">
            <a:extLst>
              <a:ext uri="{FF2B5EF4-FFF2-40B4-BE49-F238E27FC236}">
                <a16:creationId xmlns:a16="http://schemas.microsoft.com/office/drawing/2014/main" id="{A90CEBBB-1D4A-4216-A059-2F55F9686011}"/>
              </a:ext>
            </a:extLst>
          </p:cNvPr>
          <p:cNvSpPr>
            <a:spLocks noGrp="1"/>
          </p:cNvSpPr>
          <p:nvPr/>
        </p:nvSpPr>
        <p:spPr>
          <a:xfrm>
            <a:off x="400050" y="5943600"/>
            <a:ext cx="1066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后续扩展：实验记录、实验数据、仪器流程、项目资料、会议记录与研究成果。</a:t>
            </a:r>
          </a:p>
        </p:txBody>
      </p:sp>
    </p:spTree>
    <p:extLst>
      <p:ext uri="{BB962C8B-B14F-4D97-AF65-F5344CB8AC3E}">
        <p14:creationId xmlns:p14="http://schemas.microsoft.com/office/powerpoint/2010/main" val="84846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accent-8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8">
            <a:extLst>
              <a:ext uri="{FF2B5EF4-FFF2-40B4-BE49-F238E27FC236}">
                <a16:creationId xmlns:a16="http://schemas.microsoft.com/office/drawing/2014/main" id="{28554537-D6E4-437B-A61B-F1F7F95F7212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统一生命周期把“个人材料”变成“正式知识”</a:t>
            </a:r>
          </a:p>
        </p:txBody>
      </p:sp>
      <p:cxnSp>
        <p:nvCxnSpPr>
          <p:cNvPr id="26" name="life-axis"/>
          <p:cNvCxnSpPr/>
          <p:nvPr/>
        </p:nvCxnSpPr>
        <p:spPr>
          <a:xfrm>
            <a:off x="400050" y="3371850"/>
            <a:ext cx="11391900" cy="9525"/>
          </a:xfrm>
          <a:prstGeom prst="straightConnector1">
            <a:avLst/>
          </a:prstGeom>
          <a:ln w="9525">
            <a:solidFill>
              <a:srgbClr val="0A0A0A"/>
            </a:solidFill>
            <a:prstDash val="solid"/>
          </a:ln>
        </p:spPr>
      </p:cxnSp>
      <p:sp>
        <p:nvSpPr>
          <p:cNvPr id="4" name="life-dot-0">
            <a:extLst>
              <a:ext uri="{FF2B5EF4-FFF2-40B4-BE49-F238E27FC236}">
                <a16:creationId xmlns:a16="http://schemas.microsoft.com/office/drawing/2014/main" id="{70AA0A87-3612-448E-97B1-7A3C64B19C10}"/>
              </a:ext>
            </a:extLst>
          </p:cNvPr>
          <p:cNvSpPr>
            <a:spLocks noGrp="1"/>
          </p:cNvSpPr>
          <p:nvPr/>
        </p:nvSpPr>
        <p:spPr>
          <a:xfrm>
            <a:off x="400050" y="33147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5" name="life-step-0">
            <a:extLst>
              <a:ext uri="{FF2B5EF4-FFF2-40B4-BE49-F238E27FC236}">
                <a16:creationId xmlns:a16="http://schemas.microsoft.com/office/drawing/2014/main" id="{113F51FC-EF53-44D2-864E-9A477CB26D36}"/>
              </a:ext>
            </a:extLst>
          </p:cNvPr>
          <p:cNvSpPr>
            <a:spLocks noGrp="1"/>
          </p:cNvSpPr>
          <p:nvPr/>
        </p:nvSpPr>
        <p:spPr>
          <a:xfrm>
            <a:off x="400050" y="271462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上传</a:t>
            </a:r>
          </a:p>
        </p:txBody>
      </p:sp>
      <p:sp>
        <p:nvSpPr>
          <p:cNvPr id="6" name="life-dot-1">
            <a:extLst>
              <a:ext uri="{FF2B5EF4-FFF2-40B4-BE49-F238E27FC236}">
                <a16:creationId xmlns:a16="http://schemas.microsoft.com/office/drawing/2014/main" id="{04C43321-BCD4-4515-8034-F38CAC5A4AB4}"/>
              </a:ext>
            </a:extLst>
          </p:cNvPr>
          <p:cNvSpPr>
            <a:spLocks noGrp="1"/>
          </p:cNvSpPr>
          <p:nvPr/>
        </p:nvSpPr>
        <p:spPr>
          <a:xfrm>
            <a:off x="1824038" y="33147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7" name="life-step-1">
            <a:extLst>
              <a:ext uri="{FF2B5EF4-FFF2-40B4-BE49-F238E27FC236}">
                <a16:creationId xmlns:a16="http://schemas.microsoft.com/office/drawing/2014/main" id="{BAD22004-6E01-411A-B3BD-F5805E00CDEC}"/>
              </a:ext>
            </a:extLst>
          </p:cNvPr>
          <p:cNvSpPr>
            <a:spLocks noGrp="1"/>
          </p:cNvSpPr>
          <p:nvPr/>
        </p:nvSpPr>
        <p:spPr>
          <a:xfrm>
            <a:off x="1728788" y="366712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自动处理</a:t>
            </a:r>
          </a:p>
        </p:txBody>
      </p:sp>
      <p:sp>
        <p:nvSpPr>
          <p:cNvPr id="8" name="life-dot-2">
            <a:extLst>
              <a:ext uri="{FF2B5EF4-FFF2-40B4-BE49-F238E27FC236}">
                <a16:creationId xmlns:a16="http://schemas.microsoft.com/office/drawing/2014/main" id="{38534214-210E-414B-AB2A-3B53AC733DDB}"/>
              </a:ext>
            </a:extLst>
          </p:cNvPr>
          <p:cNvSpPr>
            <a:spLocks noGrp="1"/>
          </p:cNvSpPr>
          <p:nvPr/>
        </p:nvSpPr>
        <p:spPr>
          <a:xfrm>
            <a:off x="3248025" y="33147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9" name="life-step-2">
            <a:extLst>
              <a:ext uri="{FF2B5EF4-FFF2-40B4-BE49-F238E27FC236}">
                <a16:creationId xmlns:a16="http://schemas.microsoft.com/office/drawing/2014/main" id="{2F9FF87D-C3CA-4443-B15E-110136275415}"/>
              </a:ext>
            </a:extLst>
          </p:cNvPr>
          <p:cNvSpPr>
            <a:spLocks noGrp="1"/>
          </p:cNvSpPr>
          <p:nvPr/>
        </p:nvSpPr>
        <p:spPr>
          <a:xfrm>
            <a:off x="3152775" y="271462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0" name="life-dot-3">
            <a:extLst>
              <a:ext uri="{FF2B5EF4-FFF2-40B4-BE49-F238E27FC236}">
                <a16:creationId xmlns:a16="http://schemas.microsoft.com/office/drawing/2014/main" id="{881E1404-83DF-43D7-9D6A-11EE682DCE34}"/>
              </a:ext>
            </a:extLst>
          </p:cNvPr>
          <p:cNvSpPr>
            <a:spLocks noGrp="1"/>
          </p:cNvSpPr>
          <p:nvPr/>
        </p:nvSpPr>
        <p:spPr>
          <a:xfrm>
            <a:off x="4672013" y="33147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1" name="life-step-3">
            <a:extLst>
              <a:ext uri="{FF2B5EF4-FFF2-40B4-BE49-F238E27FC236}">
                <a16:creationId xmlns:a16="http://schemas.microsoft.com/office/drawing/2014/main" id="{0D54155E-BF21-405E-ADB0-0CE6F7ADE370}"/>
              </a:ext>
            </a:extLst>
          </p:cNvPr>
          <p:cNvSpPr>
            <a:spLocks noGrp="1"/>
          </p:cNvSpPr>
          <p:nvPr/>
        </p:nvSpPr>
        <p:spPr>
          <a:xfrm>
            <a:off x="4576763" y="366712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上传者审核</a:t>
            </a:r>
          </a:p>
        </p:txBody>
      </p:sp>
      <p:sp>
        <p:nvSpPr>
          <p:cNvPr id="12" name="life-dot-4">
            <a:extLst>
              <a:ext uri="{FF2B5EF4-FFF2-40B4-BE49-F238E27FC236}">
                <a16:creationId xmlns:a16="http://schemas.microsoft.com/office/drawing/2014/main" id="{97634B71-79A4-4850-9963-2B5AAA6F4AAC}"/>
              </a:ext>
            </a:extLst>
          </p:cNvPr>
          <p:cNvSpPr>
            <a:spLocks noGrp="1"/>
          </p:cNvSpPr>
          <p:nvPr/>
        </p:nvSpPr>
        <p:spPr>
          <a:xfrm>
            <a:off x="6096000" y="3314700"/>
            <a:ext cx="114300" cy="114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3" name="life-step-4">
            <a:extLst>
              <a:ext uri="{FF2B5EF4-FFF2-40B4-BE49-F238E27FC236}">
                <a16:creationId xmlns:a16="http://schemas.microsoft.com/office/drawing/2014/main" id="{77FF8351-B655-45DA-9E38-BB4F4E7EBE31}"/>
              </a:ext>
            </a:extLst>
          </p:cNvPr>
          <p:cNvSpPr>
            <a:spLocks noGrp="1"/>
          </p:cNvSpPr>
          <p:nvPr/>
        </p:nvSpPr>
        <p:spPr>
          <a:xfrm>
            <a:off x="6000750" y="271462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14" name="life-dot-5">
            <a:extLst>
              <a:ext uri="{FF2B5EF4-FFF2-40B4-BE49-F238E27FC236}">
                <a16:creationId xmlns:a16="http://schemas.microsoft.com/office/drawing/2014/main" id="{01AC8B8B-8B44-40EC-A6A5-73A107573998}"/>
              </a:ext>
            </a:extLst>
          </p:cNvPr>
          <p:cNvSpPr>
            <a:spLocks noGrp="1"/>
          </p:cNvSpPr>
          <p:nvPr/>
        </p:nvSpPr>
        <p:spPr>
          <a:xfrm>
            <a:off x="7519988" y="33147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5" name="life-step-5">
            <a:extLst>
              <a:ext uri="{FF2B5EF4-FFF2-40B4-BE49-F238E27FC236}">
                <a16:creationId xmlns:a16="http://schemas.microsoft.com/office/drawing/2014/main" id="{BE0D202A-322C-494B-91A1-DE4BF0FD697D}"/>
              </a:ext>
            </a:extLst>
          </p:cNvPr>
          <p:cNvSpPr>
            <a:spLocks noGrp="1"/>
          </p:cNvSpPr>
          <p:nvPr/>
        </p:nvSpPr>
        <p:spPr>
          <a:xfrm>
            <a:off x="7424738" y="366712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检索与使用</a:t>
            </a:r>
          </a:p>
        </p:txBody>
      </p:sp>
      <p:sp>
        <p:nvSpPr>
          <p:cNvPr id="16" name="life-dot-6">
            <a:extLst>
              <a:ext uri="{FF2B5EF4-FFF2-40B4-BE49-F238E27FC236}">
                <a16:creationId xmlns:a16="http://schemas.microsoft.com/office/drawing/2014/main" id="{53A584B9-A39D-4529-92D8-802F0A1B2620}"/>
              </a:ext>
            </a:extLst>
          </p:cNvPr>
          <p:cNvSpPr>
            <a:spLocks noGrp="1"/>
          </p:cNvSpPr>
          <p:nvPr/>
        </p:nvSpPr>
        <p:spPr>
          <a:xfrm>
            <a:off x="8943975" y="33147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7" name="life-step-6">
            <a:extLst>
              <a:ext uri="{FF2B5EF4-FFF2-40B4-BE49-F238E27FC236}">
                <a16:creationId xmlns:a16="http://schemas.microsoft.com/office/drawing/2014/main" id="{F59884A7-41CB-4802-BBBF-3454E1FFD01F}"/>
              </a:ext>
            </a:extLst>
          </p:cNvPr>
          <p:cNvSpPr>
            <a:spLocks noGrp="1"/>
          </p:cNvSpPr>
          <p:nvPr/>
        </p:nvSpPr>
        <p:spPr>
          <a:xfrm>
            <a:off x="8848725" y="271462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新版本</a:t>
            </a:r>
          </a:p>
        </p:txBody>
      </p:sp>
      <p:sp>
        <p:nvSpPr>
          <p:cNvPr id="18" name="life-dot-7">
            <a:extLst>
              <a:ext uri="{FF2B5EF4-FFF2-40B4-BE49-F238E27FC236}">
                <a16:creationId xmlns:a16="http://schemas.microsoft.com/office/drawing/2014/main" id="{D9B03B21-0035-4D56-888A-7950BB4F081F}"/>
              </a:ext>
            </a:extLst>
          </p:cNvPr>
          <p:cNvSpPr>
            <a:spLocks noGrp="1"/>
          </p:cNvSpPr>
          <p:nvPr/>
        </p:nvSpPr>
        <p:spPr>
          <a:xfrm>
            <a:off x="10367963" y="33147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9" name="life-step-7">
            <a:extLst>
              <a:ext uri="{FF2B5EF4-FFF2-40B4-BE49-F238E27FC236}">
                <a16:creationId xmlns:a16="http://schemas.microsoft.com/office/drawing/2014/main" id="{F39EA9BF-8D1F-4743-9697-E4EA9039CA1B}"/>
              </a:ext>
            </a:extLst>
          </p:cNvPr>
          <p:cNvSpPr>
            <a:spLocks noGrp="1"/>
          </p:cNvSpPr>
          <p:nvPr/>
        </p:nvSpPr>
        <p:spPr>
          <a:xfrm>
            <a:off x="10272713" y="3667125"/>
            <a:ext cx="133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弃用/停用</a:t>
            </a:r>
          </a:p>
        </p:txBody>
      </p:sp>
      <p:sp>
        <p:nvSpPr>
          <p:cNvPr id="20" name="life-gate">
            <a:extLst>
              <a:ext uri="{FF2B5EF4-FFF2-40B4-BE49-F238E27FC236}">
                <a16:creationId xmlns:a16="http://schemas.microsoft.com/office/drawing/2014/main" id="{7BCB4F2E-EEE4-492D-AA10-D4B106D285FB}"/>
              </a:ext>
            </a:extLst>
          </p:cNvPr>
          <p:cNvSpPr>
            <a:spLocks noGrp="1"/>
          </p:cNvSpPr>
          <p:nvPr/>
        </p:nvSpPr>
        <p:spPr>
          <a:xfrm>
            <a:off x="5391150" y="2000250"/>
            <a:ext cx="1571625" cy="685800"/>
          </a:xfrm>
          <a:prstGeom prst="rect">
            <a:avLst/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1" name="life-gate-text">
            <a:extLst>
              <a:ext uri="{FF2B5EF4-FFF2-40B4-BE49-F238E27FC236}">
                <a16:creationId xmlns:a16="http://schemas.microsoft.com/office/drawing/2014/main" id="{0F34ED1D-E944-44D8-A94A-CA087F81CB91}"/>
              </a:ext>
            </a:extLst>
          </p:cNvPr>
          <p:cNvSpPr>
            <a:spLocks noGrp="1"/>
          </p:cNvSpPr>
          <p:nvPr/>
        </p:nvSpPr>
        <p:spPr>
          <a:xfrm>
            <a:off x="5524500" y="2181225"/>
            <a:ext cx="13049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7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发布门槛</a:t>
            </a:r>
          </a:p>
        </p:txBody>
      </p:sp>
      <p:sp>
        <p:nvSpPr>
          <p:cNvPr id="22" name="life-rule">
            <a:extLst>
              <a:ext uri="{FF2B5EF4-FFF2-40B4-BE49-F238E27FC236}">
                <a16:creationId xmlns:a16="http://schemas.microsoft.com/office/drawing/2014/main" id="{B82A2CC5-83B1-429E-9582-369F02109EDA}"/>
              </a:ext>
            </a:extLst>
          </p:cNvPr>
          <p:cNvSpPr>
            <a:spLocks noGrp="1"/>
          </p:cNvSpPr>
          <p:nvPr/>
        </p:nvSpPr>
        <p:spPr>
          <a:xfrm>
            <a:off x="1428750" y="4838700"/>
            <a:ext cx="9334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388"/>
          </a:bodyPr>
          <a:lstStyle/>
          <a:p>
            <a:pPr algn="ctr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只有已发布内容可被普通成员搜索、被 Agent 使用，并作为课题组正式知识。</a:t>
            </a:r>
          </a:p>
        </p:txBody>
      </p:sp>
      <p:sp>
        <p:nvSpPr>
          <p:cNvPr id="23" name="life-owner">
            <a:extLst>
              <a:ext uri="{FF2B5EF4-FFF2-40B4-BE49-F238E27FC236}">
                <a16:creationId xmlns:a16="http://schemas.microsoft.com/office/drawing/2014/main" id="{1177C890-B749-464C-9F20-4C475209826D}"/>
              </a:ext>
            </a:extLst>
          </p:cNvPr>
          <p:cNvSpPr>
            <a:spLocks noGrp="1"/>
          </p:cNvSpPr>
          <p:nvPr/>
        </p:nvSpPr>
        <p:spPr>
          <a:xfrm>
            <a:off x="1524000" y="5676900"/>
            <a:ext cx="914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责任制：谁上传，谁负责初次审核和维护；管理员可停用、转交或删除。</a:t>
            </a:r>
          </a:p>
        </p:txBody>
      </p:sp>
    </p:spTree>
    <p:extLst>
      <p:ext uri="{BB962C8B-B14F-4D97-AF65-F5344CB8AC3E}">
        <p14:creationId xmlns:p14="http://schemas.microsoft.com/office/powerpoint/2010/main" val="127150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accent-9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9">
            <a:extLst>
              <a:ext uri="{FF2B5EF4-FFF2-40B4-BE49-F238E27FC236}">
                <a16:creationId xmlns:a16="http://schemas.microsoft.com/office/drawing/2014/main" id="{E916D2AE-9C26-44C4-A16A-B5FB0A210821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文献链路是第一阶段最小可用闭环</a:t>
            </a:r>
          </a:p>
        </p:txBody>
      </p:sp>
      <p:cxnSp>
        <p:nvCxnSpPr>
          <p:cNvPr id="33" name="lit-axis"/>
          <p:cNvCxnSpPr/>
          <p:nvPr/>
        </p:nvCxnSpPr>
        <p:spPr>
          <a:xfrm>
            <a:off x="552450" y="3219450"/>
            <a:ext cx="10906125" cy="9525"/>
          </a:xfrm>
          <a:prstGeom prst="straightConnector1">
            <a:avLst/>
          </a:prstGeom>
          <a:ln w="9525">
            <a:solidFill>
              <a:srgbClr val="0A0A0A"/>
            </a:solidFill>
            <a:prstDash val="solid"/>
          </a:ln>
        </p:spPr>
      </p:cxnSp>
      <p:sp>
        <p:nvSpPr>
          <p:cNvPr id="4" name="lit-dot-0">
            <a:extLst>
              <a:ext uri="{FF2B5EF4-FFF2-40B4-BE49-F238E27FC236}">
                <a16:creationId xmlns:a16="http://schemas.microsoft.com/office/drawing/2014/main" id="{E805880E-9C02-4C2A-97D9-23058E95FBBA}"/>
              </a:ext>
            </a:extLst>
          </p:cNvPr>
          <p:cNvSpPr>
            <a:spLocks noGrp="1"/>
          </p:cNvSpPr>
          <p:nvPr/>
        </p:nvSpPr>
        <p:spPr>
          <a:xfrm>
            <a:off x="552450" y="31623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5" name="lit-label-0">
            <a:extLst>
              <a:ext uri="{FF2B5EF4-FFF2-40B4-BE49-F238E27FC236}">
                <a16:creationId xmlns:a16="http://schemas.microsoft.com/office/drawing/2014/main" id="{C9F6FBDF-706A-4876-B4B8-2D4E286135F1}"/>
              </a:ext>
            </a:extLst>
          </p:cNvPr>
          <p:cNvSpPr>
            <a:spLocks noGrp="1"/>
          </p:cNvSpPr>
          <p:nvPr/>
        </p:nvSpPr>
        <p:spPr>
          <a:xfrm>
            <a:off x="209550" y="2571750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上传 PDF</a:t>
            </a:r>
          </a:p>
        </p:txBody>
      </p:sp>
      <p:sp>
        <p:nvSpPr>
          <p:cNvPr id="6" name="lit-dot-1">
            <a:extLst>
              <a:ext uri="{FF2B5EF4-FFF2-40B4-BE49-F238E27FC236}">
                <a16:creationId xmlns:a16="http://schemas.microsoft.com/office/drawing/2014/main" id="{765BA6A6-8E01-42A9-8C6E-F07227B08A7C}"/>
              </a:ext>
            </a:extLst>
          </p:cNvPr>
          <p:cNvSpPr>
            <a:spLocks noGrp="1"/>
          </p:cNvSpPr>
          <p:nvPr/>
        </p:nvSpPr>
        <p:spPr>
          <a:xfrm>
            <a:off x="1914525" y="31623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7" name="lit-label-1">
            <a:extLst>
              <a:ext uri="{FF2B5EF4-FFF2-40B4-BE49-F238E27FC236}">
                <a16:creationId xmlns:a16="http://schemas.microsoft.com/office/drawing/2014/main" id="{E354025E-CC75-4A5A-8074-BB37FFA21466}"/>
              </a:ext>
            </a:extLst>
          </p:cNvPr>
          <p:cNvSpPr>
            <a:spLocks noGrp="1"/>
          </p:cNvSpPr>
          <p:nvPr/>
        </p:nvSpPr>
        <p:spPr>
          <a:xfrm>
            <a:off x="1571625" y="3571875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保存原件</a:t>
            </a:r>
          </a:p>
        </p:txBody>
      </p:sp>
      <p:sp>
        <p:nvSpPr>
          <p:cNvPr id="8" name="lit-dot-2">
            <a:extLst>
              <a:ext uri="{FF2B5EF4-FFF2-40B4-BE49-F238E27FC236}">
                <a16:creationId xmlns:a16="http://schemas.microsoft.com/office/drawing/2014/main" id="{2AA109A8-FA00-4311-802F-6E91886A757B}"/>
              </a:ext>
            </a:extLst>
          </p:cNvPr>
          <p:cNvSpPr>
            <a:spLocks noGrp="1"/>
          </p:cNvSpPr>
          <p:nvPr/>
        </p:nvSpPr>
        <p:spPr>
          <a:xfrm>
            <a:off x="3276600" y="31623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9" name="lit-label-2">
            <a:extLst>
              <a:ext uri="{FF2B5EF4-FFF2-40B4-BE49-F238E27FC236}">
                <a16:creationId xmlns:a16="http://schemas.microsoft.com/office/drawing/2014/main" id="{AF15DA35-BDCF-4F55-8EFF-E2757AF93A54}"/>
              </a:ext>
            </a:extLst>
          </p:cNvPr>
          <p:cNvSpPr>
            <a:spLocks noGrp="1"/>
          </p:cNvSpPr>
          <p:nvPr/>
        </p:nvSpPr>
        <p:spPr>
          <a:xfrm>
            <a:off x="2933700" y="2571750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提取元数据</a:t>
            </a:r>
          </a:p>
        </p:txBody>
      </p:sp>
      <p:sp>
        <p:nvSpPr>
          <p:cNvPr id="10" name="lit-dot-3">
            <a:extLst>
              <a:ext uri="{FF2B5EF4-FFF2-40B4-BE49-F238E27FC236}">
                <a16:creationId xmlns:a16="http://schemas.microsoft.com/office/drawing/2014/main" id="{E4CF6C5C-6C06-4F20-936D-F9A3640586BD}"/>
              </a:ext>
            </a:extLst>
          </p:cNvPr>
          <p:cNvSpPr>
            <a:spLocks noGrp="1"/>
          </p:cNvSpPr>
          <p:nvPr/>
        </p:nvSpPr>
        <p:spPr>
          <a:xfrm>
            <a:off x="4638675" y="31623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1" name="lit-label-3">
            <a:extLst>
              <a:ext uri="{FF2B5EF4-FFF2-40B4-BE49-F238E27FC236}">
                <a16:creationId xmlns:a16="http://schemas.microsoft.com/office/drawing/2014/main" id="{BABA816F-7D39-4F00-AF4C-41658DF096BD}"/>
              </a:ext>
            </a:extLst>
          </p:cNvPr>
          <p:cNvSpPr>
            <a:spLocks noGrp="1"/>
          </p:cNvSpPr>
          <p:nvPr/>
        </p:nvSpPr>
        <p:spPr>
          <a:xfrm>
            <a:off x="4295775" y="3571875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解析全文</a:t>
            </a:r>
          </a:p>
        </p:txBody>
      </p:sp>
      <p:sp>
        <p:nvSpPr>
          <p:cNvPr id="12" name="lit-dot-4">
            <a:extLst>
              <a:ext uri="{FF2B5EF4-FFF2-40B4-BE49-F238E27FC236}">
                <a16:creationId xmlns:a16="http://schemas.microsoft.com/office/drawing/2014/main" id="{84DEC1BD-C527-439C-9D30-763CED1B15DD}"/>
              </a:ext>
            </a:extLst>
          </p:cNvPr>
          <p:cNvSpPr>
            <a:spLocks noGrp="1"/>
          </p:cNvSpPr>
          <p:nvPr/>
        </p:nvSpPr>
        <p:spPr>
          <a:xfrm>
            <a:off x="6000750" y="31623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3" name="lit-label-4">
            <a:extLst>
              <a:ext uri="{FF2B5EF4-FFF2-40B4-BE49-F238E27FC236}">
                <a16:creationId xmlns:a16="http://schemas.microsoft.com/office/drawing/2014/main" id="{7E0A8E0D-6792-45EA-9667-B1400E750221}"/>
              </a:ext>
            </a:extLst>
          </p:cNvPr>
          <p:cNvSpPr>
            <a:spLocks noGrp="1"/>
          </p:cNvSpPr>
          <p:nvPr/>
        </p:nvSpPr>
        <p:spPr>
          <a:xfrm>
            <a:off x="5657850" y="2571750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生成摘要/标签</a:t>
            </a:r>
          </a:p>
        </p:txBody>
      </p:sp>
      <p:sp>
        <p:nvSpPr>
          <p:cNvPr id="14" name="lit-dot-5">
            <a:extLst>
              <a:ext uri="{FF2B5EF4-FFF2-40B4-BE49-F238E27FC236}">
                <a16:creationId xmlns:a16="http://schemas.microsoft.com/office/drawing/2014/main" id="{B126D8E2-915B-4C29-959A-99E75581E1D2}"/>
              </a:ext>
            </a:extLst>
          </p:cNvPr>
          <p:cNvSpPr>
            <a:spLocks noGrp="1"/>
          </p:cNvSpPr>
          <p:nvPr/>
        </p:nvSpPr>
        <p:spPr>
          <a:xfrm>
            <a:off x="7362825" y="31623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5" name="lit-label-5">
            <a:extLst>
              <a:ext uri="{FF2B5EF4-FFF2-40B4-BE49-F238E27FC236}">
                <a16:creationId xmlns:a16="http://schemas.microsoft.com/office/drawing/2014/main" id="{44787A3C-B91B-4CFA-B564-DCCA0AE2B471}"/>
              </a:ext>
            </a:extLst>
          </p:cNvPr>
          <p:cNvSpPr>
            <a:spLocks noGrp="1"/>
          </p:cNvSpPr>
          <p:nvPr/>
        </p:nvSpPr>
        <p:spPr>
          <a:xfrm>
            <a:off x="7019925" y="3571875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上传者审核</a:t>
            </a:r>
          </a:p>
        </p:txBody>
      </p:sp>
      <p:sp>
        <p:nvSpPr>
          <p:cNvPr id="16" name="lit-dot-6">
            <a:extLst>
              <a:ext uri="{FF2B5EF4-FFF2-40B4-BE49-F238E27FC236}">
                <a16:creationId xmlns:a16="http://schemas.microsoft.com/office/drawing/2014/main" id="{000D6B03-E73C-4CF7-BD6C-0C8103B9687B}"/>
              </a:ext>
            </a:extLst>
          </p:cNvPr>
          <p:cNvSpPr>
            <a:spLocks noGrp="1"/>
          </p:cNvSpPr>
          <p:nvPr/>
        </p:nvSpPr>
        <p:spPr>
          <a:xfrm>
            <a:off x="8724900" y="3162300"/>
            <a:ext cx="114300" cy="11430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lit-label-6">
            <a:extLst>
              <a:ext uri="{FF2B5EF4-FFF2-40B4-BE49-F238E27FC236}">
                <a16:creationId xmlns:a16="http://schemas.microsoft.com/office/drawing/2014/main" id="{7DB5CEB5-76E2-49D0-8D71-CB25998FB055}"/>
              </a:ext>
            </a:extLst>
          </p:cNvPr>
          <p:cNvSpPr>
            <a:spLocks noGrp="1"/>
          </p:cNvSpPr>
          <p:nvPr/>
        </p:nvSpPr>
        <p:spPr>
          <a:xfrm>
            <a:off x="8382000" y="2571750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18" name="lit-dot-7">
            <a:extLst>
              <a:ext uri="{FF2B5EF4-FFF2-40B4-BE49-F238E27FC236}">
                <a16:creationId xmlns:a16="http://schemas.microsoft.com/office/drawing/2014/main" id="{888150F2-A5BF-4D3C-9F33-047D6C991F92}"/>
              </a:ext>
            </a:extLst>
          </p:cNvPr>
          <p:cNvSpPr>
            <a:spLocks noGrp="1"/>
          </p:cNvSpPr>
          <p:nvPr/>
        </p:nvSpPr>
        <p:spPr>
          <a:xfrm>
            <a:off x="10086975" y="31623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9" name="lit-label-7">
            <a:extLst>
              <a:ext uri="{FF2B5EF4-FFF2-40B4-BE49-F238E27FC236}">
                <a16:creationId xmlns:a16="http://schemas.microsoft.com/office/drawing/2014/main" id="{90D75043-C3CB-41BD-81A9-262925617621}"/>
              </a:ext>
            </a:extLst>
          </p:cNvPr>
          <p:cNvSpPr>
            <a:spLocks noGrp="1"/>
          </p:cNvSpPr>
          <p:nvPr/>
        </p:nvSpPr>
        <p:spPr>
          <a:xfrm>
            <a:off x="9744075" y="3571875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建立索引</a:t>
            </a:r>
          </a:p>
        </p:txBody>
      </p:sp>
      <p:sp>
        <p:nvSpPr>
          <p:cNvPr id="20" name="lit-dot-8">
            <a:extLst>
              <a:ext uri="{FF2B5EF4-FFF2-40B4-BE49-F238E27FC236}">
                <a16:creationId xmlns:a16="http://schemas.microsoft.com/office/drawing/2014/main" id="{FE088519-820F-4188-9340-DDF5F9D4306F}"/>
              </a:ext>
            </a:extLst>
          </p:cNvPr>
          <p:cNvSpPr>
            <a:spLocks noGrp="1"/>
          </p:cNvSpPr>
          <p:nvPr/>
        </p:nvSpPr>
        <p:spPr>
          <a:xfrm>
            <a:off x="11449050" y="31623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21" name="lit-label-8">
            <a:extLst>
              <a:ext uri="{FF2B5EF4-FFF2-40B4-BE49-F238E27FC236}">
                <a16:creationId xmlns:a16="http://schemas.microsoft.com/office/drawing/2014/main" id="{25483C5A-11D6-4F0F-B347-44AB6B95614F}"/>
              </a:ext>
            </a:extLst>
          </p:cNvPr>
          <p:cNvSpPr>
            <a:spLocks noGrp="1"/>
          </p:cNvSpPr>
          <p:nvPr/>
        </p:nvSpPr>
        <p:spPr>
          <a:xfrm>
            <a:off x="11106150" y="2571750"/>
            <a:ext cx="1066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Agent 使用</a:t>
            </a:r>
          </a:p>
        </p:txBody>
      </p:sp>
      <p:sp>
        <p:nvSpPr>
          <p:cNvPr id="22" name="lit-store">
            <a:extLst>
              <a:ext uri="{FF2B5EF4-FFF2-40B4-BE49-F238E27FC236}">
                <a16:creationId xmlns:a16="http://schemas.microsoft.com/office/drawing/2014/main" id="{C604C018-0671-46E0-8636-047D3AE539D1}"/>
              </a:ext>
            </a:extLst>
          </p:cNvPr>
          <p:cNvSpPr>
            <a:spLocks noGrp="1"/>
          </p:cNvSpPr>
          <p:nvPr/>
        </p:nvSpPr>
        <p:spPr>
          <a:xfrm>
            <a:off x="514350" y="4657725"/>
            <a:ext cx="3286125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3" name="lit-store-h">
            <a:extLst>
              <a:ext uri="{FF2B5EF4-FFF2-40B4-BE49-F238E27FC236}">
                <a16:creationId xmlns:a16="http://schemas.microsoft.com/office/drawing/2014/main" id="{84798C23-955E-40E9-AF36-3BEFD60E3C9F}"/>
              </a:ext>
            </a:extLst>
          </p:cNvPr>
          <p:cNvSpPr>
            <a:spLocks noGrp="1"/>
          </p:cNvSpPr>
          <p:nvPr/>
        </p:nvSpPr>
        <p:spPr>
          <a:xfrm>
            <a:off x="723900" y="48577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NJU Box</a:t>
            </a:r>
          </a:p>
        </p:txBody>
      </p:sp>
      <p:sp>
        <p:nvSpPr>
          <p:cNvPr id="24" name="lit-store-b">
            <a:extLst>
              <a:ext uri="{FF2B5EF4-FFF2-40B4-BE49-F238E27FC236}">
                <a16:creationId xmlns:a16="http://schemas.microsoft.com/office/drawing/2014/main" id="{30E9831C-9CC2-4AB9-92EB-D7444123BE2B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保存原始 PDF 与解析产物</a:t>
            </a:r>
          </a:p>
        </p:txBody>
      </p:sp>
      <p:sp>
        <p:nvSpPr>
          <p:cNvPr id="25" name="lit-db">
            <a:extLst>
              <a:ext uri="{FF2B5EF4-FFF2-40B4-BE49-F238E27FC236}">
                <a16:creationId xmlns:a16="http://schemas.microsoft.com/office/drawing/2014/main" id="{B3379319-8199-4101-9450-2888A3A43D10}"/>
              </a:ext>
            </a:extLst>
          </p:cNvPr>
          <p:cNvSpPr>
            <a:spLocks noGrp="1"/>
          </p:cNvSpPr>
          <p:nvPr/>
        </p:nvSpPr>
        <p:spPr>
          <a:xfrm>
            <a:off x="4448175" y="4657725"/>
            <a:ext cx="3286125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6" name="lit-db-h">
            <a:extLst>
              <a:ext uri="{FF2B5EF4-FFF2-40B4-BE49-F238E27FC236}">
                <a16:creationId xmlns:a16="http://schemas.microsoft.com/office/drawing/2014/main" id="{9C272C52-C1A9-4015-B6B7-94F25B543100}"/>
              </a:ext>
            </a:extLst>
          </p:cNvPr>
          <p:cNvSpPr>
            <a:spLocks noGrp="1"/>
          </p:cNvSpPr>
          <p:nvPr/>
        </p:nvSpPr>
        <p:spPr>
          <a:xfrm>
            <a:off x="4657725" y="4857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业务数据库</a:t>
            </a:r>
          </a:p>
        </p:txBody>
      </p:sp>
      <p:sp>
        <p:nvSpPr>
          <p:cNvPr id="27" name="lit-db-b">
            <a:extLst>
              <a:ext uri="{FF2B5EF4-FFF2-40B4-BE49-F238E27FC236}">
                <a16:creationId xmlns:a16="http://schemas.microsoft.com/office/drawing/2014/main" id="{CDB8558D-F9F7-4F97-8ED6-CDD4B0DB9DB9}"/>
              </a:ext>
            </a:extLst>
          </p:cNvPr>
          <p:cNvSpPr>
            <a:spLocks noGrp="1"/>
          </p:cNvSpPr>
          <p:nvPr/>
        </p:nvSpPr>
        <p:spPr>
          <a:xfrm>
            <a:off x="4657725" y="5219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保存状态、权限、版本与任务</a:t>
            </a:r>
          </a:p>
        </p:txBody>
      </p:sp>
      <p:sp>
        <p:nvSpPr>
          <p:cNvPr id="28" name="lit-index">
            <a:extLst>
              <a:ext uri="{FF2B5EF4-FFF2-40B4-BE49-F238E27FC236}">
                <a16:creationId xmlns:a16="http://schemas.microsoft.com/office/drawing/2014/main" id="{F1C6FF9A-B9AF-4888-904D-5AE416A543A9}"/>
              </a:ext>
            </a:extLst>
          </p:cNvPr>
          <p:cNvSpPr>
            <a:spLocks noGrp="1"/>
          </p:cNvSpPr>
          <p:nvPr/>
        </p:nvSpPr>
        <p:spPr>
          <a:xfrm>
            <a:off x="8382000" y="4657725"/>
            <a:ext cx="3286125" cy="9144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29" name="lit-index-h">
            <a:extLst>
              <a:ext uri="{FF2B5EF4-FFF2-40B4-BE49-F238E27FC236}">
                <a16:creationId xmlns:a16="http://schemas.microsoft.com/office/drawing/2014/main" id="{68C7EA74-FB63-407D-A36F-01564F45D633}"/>
              </a:ext>
            </a:extLst>
          </p:cNvPr>
          <p:cNvSpPr>
            <a:spLocks noGrp="1"/>
          </p:cNvSpPr>
          <p:nvPr/>
        </p:nvSpPr>
        <p:spPr>
          <a:xfrm>
            <a:off x="8591550" y="48577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06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检索索引</a:t>
            </a:r>
          </a:p>
        </p:txBody>
      </p:sp>
      <p:sp>
        <p:nvSpPr>
          <p:cNvPr id="30" name="lit-index-b">
            <a:extLst>
              <a:ext uri="{FF2B5EF4-FFF2-40B4-BE49-F238E27FC236}">
                <a16:creationId xmlns:a16="http://schemas.microsoft.com/office/drawing/2014/main" id="{64A88822-4B00-4D27-A467-DB7B694ED490}"/>
              </a:ext>
            </a:extLst>
          </p:cNvPr>
          <p:cNvSpPr>
            <a:spLocks noGrp="1"/>
          </p:cNvSpPr>
          <p:nvPr/>
        </p:nvSpPr>
        <p:spPr>
          <a:xfrm>
            <a:off x="8591550" y="5219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由主数据重建，不是最终数据源</a:t>
            </a:r>
          </a:p>
        </p:txBody>
      </p:sp>
    </p:spTree>
    <p:extLst>
      <p:ext uri="{BB962C8B-B14F-4D97-AF65-F5344CB8AC3E}">
        <p14:creationId xmlns:p14="http://schemas.microsoft.com/office/powerpoint/2010/main" val="642649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accent-10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10">
            <a:extLst>
              <a:ext uri="{FF2B5EF4-FFF2-40B4-BE49-F238E27FC236}">
                <a16:creationId xmlns:a16="http://schemas.microsoft.com/office/drawing/2014/main" id="{D5DD03A5-8F2B-4DD1-84C9-9F84275DE923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自然语言入口把意图、检索和证据回答串在一起</a:t>
            </a:r>
          </a:p>
        </p:txBody>
      </p:sp>
      <p:cxnSp>
        <p:nvCxnSpPr>
          <p:cNvPr id="17" name="search-flow-1"/>
          <p:cNvCxnSpPr/>
          <p:nvPr/>
        </p:nvCxnSpPr>
        <p:spPr>
          <a:xfrm>
            <a:off x="3590925" y="3352800"/>
            <a:ext cx="6858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cxnSp>
        <p:nvCxnSpPr>
          <p:cNvPr id="18" name="search-flow-2"/>
          <p:cNvCxnSpPr/>
          <p:nvPr/>
        </p:nvCxnSpPr>
        <p:spPr>
          <a:xfrm>
            <a:off x="7515225" y="3352800"/>
            <a:ext cx="6858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search-card-0">
            <a:extLst>
              <a:ext uri="{FF2B5EF4-FFF2-40B4-BE49-F238E27FC236}">
                <a16:creationId xmlns:a16="http://schemas.microsoft.com/office/drawing/2014/main" id="{708E860B-61EF-430F-9F30-51215F6484D3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62350" cy="3333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6" name="search-card-h-0">
            <a:extLst>
              <a:ext uri="{FF2B5EF4-FFF2-40B4-BE49-F238E27FC236}">
                <a16:creationId xmlns:a16="http://schemas.microsoft.com/office/drawing/2014/main" id="{C5F7806D-71E1-49BD-AEA8-616BDFA55445}"/>
              </a:ext>
            </a:extLst>
          </p:cNvPr>
          <p:cNvSpPr>
            <a:spLocks noGrp="1"/>
          </p:cNvSpPr>
          <p:nvPr/>
        </p:nvSpPr>
        <p:spPr>
          <a:xfrm>
            <a:off x="666750" y="2114550"/>
            <a:ext cx="302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01 · 识别意图</a:t>
            </a:r>
          </a:p>
        </p:txBody>
      </p:sp>
      <p:sp>
        <p:nvSpPr>
          <p:cNvPr id="7" name="search-card-b-0">
            <a:extLst>
              <a:ext uri="{FF2B5EF4-FFF2-40B4-BE49-F238E27FC236}">
                <a16:creationId xmlns:a16="http://schemas.microsoft.com/office/drawing/2014/main" id="{4FE569D8-1EF7-438E-8C5A-06C3CF7A464B}"/>
              </a:ext>
            </a:extLst>
          </p:cNvPr>
          <p:cNvSpPr>
            <a:spLocks noGrp="1"/>
          </p:cNvSpPr>
          <p:nvPr/>
        </p:nvSpPr>
        <p:spPr>
          <a:xfrm>
            <a:off x="666750" y="2762250"/>
            <a:ext cx="30289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查找资料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总结指定内容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回答科研问题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对比文献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查找代码或 Skill</a:t>
            </a:r>
          </a:p>
        </p:txBody>
      </p:sp>
      <p:sp>
        <p:nvSpPr>
          <p:cNvPr id="8" name="search-card-1">
            <a:extLst>
              <a:ext uri="{FF2B5EF4-FFF2-40B4-BE49-F238E27FC236}">
                <a16:creationId xmlns:a16="http://schemas.microsoft.com/office/drawing/2014/main" id="{D3908A38-7642-4206-81B4-02807727E23D}"/>
              </a:ext>
            </a:extLst>
          </p:cNvPr>
          <p:cNvSpPr>
            <a:spLocks noGrp="1"/>
          </p:cNvSpPr>
          <p:nvPr/>
        </p:nvSpPr>
        <p:spPr>
          <a:xfrm>
            <a:off x="4314825" y="1809750"/>
            <a:ext cx="3562350" cy="33337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9" name="search-card-h-1">
            <a:extLst>
              <a:ext uri="{FF2B5EF4-FFF2-40B4-BE49-F238E27FC236}">
                <a16:creationId xmlns:a16="http://schemas.microsoft.com/office/drawing/2014/main" id="{2C652D6B-8C40-45C6-979B-A0A0184F72FF}"/>
              </a:ext>
            </a:extLst>
          </p:cNvPr>
          <p:cNvSpPr>
            <a:spLocks noGrp="1"/>
          </p:cNvSpPr>
          <p:nvPr/>
        </p:nvSpPr>
        <p:spPr>
          <a:xfrm>
            <a:off x="4581525" y="2114550"/>
            <a:ext cx="302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02 · 混合检索</a:t>
            </a:r>
          </a:p>
        </p:txBody>
      </p:sp>
      <p:sp>
        <p:nvSpPr>
          <p:cNvPr id="10" name="search-card-b-1">
            <a:extLst>
              <a:ext uri="{FF2B5EF4-FFF2-40B4-BE49-F238E27FC236}">
                <a16:creationId xmlns:a16="http://schemas.microsoft.com/office/drawing/2014/main" id="{BD01BD7E-FB60-41A3-A656-0A8C3D9D062A}"/>
              </a:ext>
            </a:extLst>
          </p:cNvPr>
          <p:cNvSpPr>
            <a:spLocks noGrp="1"/>
          </p:cNvSpPr>
          <p:nvPr/>
        </p:nvSpPr>
        <p:spPr>
          <a:xfrm>
            <a:off x="4581525" y="2762250"/>
            <a:ext cx="30289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基础检索：标题、作者、标签、摘要、正文、公式或代码</a:t>
            </a:r>
          </a:p>
          <a:p>
            <a:endParaRPr sz="1575" b="0">
              <a:solidFill>
                <a:srgbClr val="5B616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语义检索：跨中英文、相似问题、方法与结果</a:t>
            </a:r>
          </a:p>
        </p:txBody>
      </p:sp>
      <p:sp>
        <p:nvSpPr>
          <p:cNvPr id="11" name="search-card-2">
            <a:extLst>
              <a:ext uri="{FF2B5EF4-FFF2-40B4-BE49-F238E27FC236}">
                <a16:creationId xmlns:a16="http://schemas.microsoft.com/office/drawing/2014/main" id="{C15BA309-A195-4EB5-AFDE-791686B99B79}"/>
              </a:ext>
            </a:extLst>
          </p:cNvPr>
          <p:cNvSpPr>
            <a:spLocks noGrp="1"/>
          </p:cNvSpPr>
          <p:nvPr/>
        </p:nvSpPr>
        <p:spPr>
          <a:xfrm>
            <a:off x="8229600" y="1809750"/>
            <a:ext cx="3562350" cy="3333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search-card-h-2">
            <a:extLst>
              <a:ext uri="{FF2B5EF4-FFF2-40B4-BE49-F238E27FC236}">
                <a16:creationId xmlns:a16="http://schemas.microsoft.com/office/drawing/2014/main" id="{B88ADA3B-7735-4D06-A583-FA336129E377}"/>
              </a:ext>
            </a:extLst>
          </p:cNvPr>
          <p:cNvSpPr>
            <a:spLocks noGrp="1"/>
          </p:cNvSpPr>
          <p:nvPr/>
        </p:nvSpPr>
        <p:spPr>
          <a:xfrm>
            <a:off x="8496300" y="2114550"/>
            <a:ext cx="3028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03 · 证据回答</a:t>
            </a:r>
          </a:p>
        </p:txBody>
      </p:sp>
      <p:sp>
        <p:nvSpPr>
          <p:cNvPr id="13" name="search-card-b-2">
            <a:extLst>
              <a:ext uri="{FF2B5EF4-FFF2-40B4-BE49-F238E27FC236}">
                <a16:creationId xmlns:a16="http://schemas.microsoft.com/office/drawing/2014/main" id="{306A9498-C628-4AC8-9224-960A665D1E03}"/>
              </a:ext>
            </a:extLst>
          </p:cNvPr>
          <p:cNvSpPr>
            <a:spLocks noGrp="1"/>
          </p:cNvSpPr>
          <p:nvPr/>
        </p:nvSpPr>
        <p:spPr>
          <a:xfrm>
            <a:off x="8496300" y="2762250"/>
            <a:ext cx="30289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证据充足：结论 + 来源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证据不足：展示相关材料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结论冲突：分别说明条件</a:t>
            </a:r>
          </a:p>
        </p:txBody>
      </p:sp>
      <p:sp>
        <p:nvSpPr>
          <p:cNvPr id="14" name="search-bottom">
            <a:extLst>
              <a:ext uri="{FF2B5EF4-FFF2-40B4-BE49-F238E27FC236}">
                <a16:creationId xmlns:a16="http://schemas.microsoft.com/office/drawing/2014/main" id="{4084641D-9A8B-4458-B683-0384E1608522}"/>
              </a:ext>
            </a:extLst>
          </p:cNvPr>
          <p:cNvSpPr>
            <a:spLocks noGrp="1"/>
          </p:cNvSpPr>
          <p:nvPr/>
        </p:nvSpPr>
        <p:spPr>
          <a:xfrm>
            <a:off x="400050" y="56483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检索结果必须先通过“已发布 + 有访问权”的权限门，再进入 Agent 上下文。</a:t>
            </a:r>
          </a:p>
        </p:txBody>
      </p:sp>
    </p:spTree>
    <p:extLst>
      <p:ext uri="{BB962C8B-B14F-4D97-AF65-F5344CB8AC3E}">
        <p14:creationId xmlns:p14="http://schemas.microsoft.com/office/powerpoint/2010/main" val="11944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accent-11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11">
            <a:extLst>
              <a:ext uri="{FF2B5EF4-FFF2-40B4-BE49-F238E27FC236}">
                <a16:creationId xmlns:a16="http://schemas.microsoft.com/office/drawing/2014/main" id="{8E003698-623B-4E58-85AB-9077AE4BFF67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可信来自可见的证据、权限与不确定性</a:t>
            </a:r>
          </a:p>
        </p:txBody>
      </p:sp>
      <p:sp>
        <p:nvSpPr>
          <p:cNvPr id="3" name="trust-index-0">
            <a:extLst>
              <a:ext uri="{FF2B5EF4-FFF2-40B4-BE49-F238E27FC236}">
                <a16:creationId xmlns:a16="http://schemas.microsoft.com/office/drawing/2014/main" id="{BC1E9455-E984-4157-97CD-53E92B54795C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rust-h-0">
            <a:extLst>
              <a:ext uri="{FF2B5EF4-FFF2-40B4-BE49-F238E27FC236}">
                <a16:creationId xmlns:a16="http://schemas.microsoft.com/office/drawing/2014/main" id="{3E756016-14C3-47FA-AE34-AE3BBFC37F99}"/>
              </a:ext>
            </a:extLst>
          </p:cNvPr>
          <p:cNvSpPr>
            <a:spLocks noGrp="1"/>
          </p:cNvSpPr>
          <p:nvPr/>
        </p:nvSpPr>
        <p:spPr>
          <a:xfrm>
            <a:off x="1123950" y="1952625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来源可追溯</a:t>
            </a:r>
          </a:p>
        </p:txBody>
      </p:sp>
      <p:sp>
        <p:nvSpPr>
          <p:cNvPr id="5" name="trust-b-0">
            <a:extLst>
              <a:ext uri="{FF2B5EF4-FFF2-40B4-BE49-F238E27FC236}">
                <a16:creationId xmlns:a16="http://schemas.microsoft.com/office/drawing/2014/main" id="{5ADF7D22-67A9-4109-96B8-330F695111C6}"/>
              </a:ext>
            </a:extLst>
          </p:cNvPr>
          <p:cNvSpPr>
            <a:spLocks noGrp="1"/>
          </p:cNvSpPr>
          <p:nvPr/>
        </p:nvSpPr>
        <p:spPr>
          <a:xfrm>
            <a:off x="1123950" y="2486025"/>
            <a:ext cx="447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列出使用的文献或知识条目，提供原始文件链接；必要时定位章节或页码。</a:t>
            </a:r>
          </a:p>
        </p:txBody>
      </p:sp>
      <p:sp>
        <p:nvSpPr>
          <p:cNvPr id="6" name="trust-index-1">
            <a:extLst>
              <a:ext uri="{FF2B5EF4-FFF2-40B4-BE49-F238E27FC236}">
                <a16:creationId xmlns:a16="http://schemas.microsoft.com/office/drawing/2014/main" id="{D7CA170D-BECC-4C27-8F7F-69541E35BDE0}"/>
              </a:ext>
            </a:extLst>
          </p:cNvPr>
          <p:cNvSpPr>
            <a:spLocks noGrp="1"/>
          </p:cNvSpPr>
          <p:nvPr/>
        </p:nvSpPr>
        <p:spPr>
          <a:xfrm>
            <a:off x="6257925" y="1952625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rust-h-1">
            <a:extLst>
              <a:ext uri="{FF2B5EF4-FFF2-40B4-BE49-F238E27FC236}">
                <a16:creationId xmlns:a16="http://schemas.microsoft.com/office/drawing/2014/main" id="{CFE24A50-FB97-4010-AAA6-B04D41D6D48D}"/>
              </a:ext>
            </a:extLst>
          </p:cNvPr>
          <p:cNvSpPr>
            <a:spLocks noGrp="1"/>
          </p:cNvSpPr>
          <p:nvPr/>
        </p:nvSpPr>
        <p:spPr>
          <a:xfrm>
            <a:off x="6981825" y="1952625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权限先于回答</a:t>
            </a:r>
          </a:p>
        </p:txBody>
      </p:sp>
      <p:sp>
        <p:nvSpPr>
          <p:cNvPr id="8" name="trust-b-1">
            <a:extLst>
              <a:ext uri="{FF2B5EF4-FFF2-40B4-BE49-F238E27FC236}">
                <a16:creationId xmlns:a16="http://schemas.microsoft.com/office/drawing/2014/main" id="{2369E583-4B50-4D17-A10A-43F648C4FD8E}"/>
              </a:ext>
            </a:extLst>
          </p:cNvPr>
          <p:cNvSpPr>
            <a:spLocks noGrp="1"/>
          </p:cNvSpPr>
          <p:nvPr/>
        </p:nvSpPr>
        <p:spPr>
          <a:xfrm>
            <a:off x="6981825" y="2486025"/>
            <a:ext cx="447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Agent 只使用已发布且当前用户有权访问的内容。</a:t>
            </a:r>
          </a:p>
        </p:txBody>
      </p:sp>
      <p:sp>
        <p:nvSpPr>
          <p:cNvPr id="9" name="trust-index-2">
            <a:extLst>
              <a:ext uri="{FF2B5EF4-FFF2-40B4-BE49-F238E27FC236}">
                <a16:creationId xmlns:a16="http://schemas.microsoft.com/office/drawing/2014/main" id="{46C5CACF-859A-4DC5-8B19-0082385A652F}"/>
              </a:ext>
            </a:extLst>
          </p:cNvPr>
          <p:cNvSpPr>
            <a:spLocks noGrp="1"/>
          </p:cNvSpPr>
          <p:nvPr/>
        </p:nvSpPr>
        <p:spPr>
          <a:xfrm>
            <a:off x="400050" y="3952875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rust-h-2">
            <a:extLst>
              <a:ext uri="{FF2B5EF4-FFF2-40B4-BE49-F238E27FC236}">
                <a16:creationId xmlns:a16="http://schemas.microsoft.com/office/drawing/2014/main" id="{540498CD-BEC2-4218-9672-23C192C4D78F}"/>
              </a:ext>
            </a:extLst>
          </p:cNvPr>
          <p:cNvSpPr>
            <a:spLocks noGrp="1"/>
          </p:cNvSpPr>
          <p:nvPr/>
        </p:nvSpPr>
        <p:spPr>
          <a:xfrm>
            <a:off x="1123950" y="3952875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允许拒答</a:t>
            </a:r>
          </a:p>
        </p:txBody>
      </p:sp>
      <p:sp>
        <p:nvSpPr>
          <p:cNvPr id="11" name="trust-b-2">
            <a:extLst>
              <a:ext uri="{FF2B5EF4-FFF2-40B4-BE49-F238E27FC236}">
                <a16:creationId xmlns:a16="http://schemas.microsoft.com/office/drawing/2014/main" id="{CECFEC98-4D0B-4AD1-B0AF-6C12E2D956ED}"/>
              </a:ext>
            </a:extLst>
          </p:cNvPr>
          <p:cNvSpPr>
            <a:spLocks noGrp="1"/>
          </p:cNvSpPr>
          <p:nvPr/>
        </p:nvSpPr>
        <p:spPr>
          <a:xfrm>
            <a:off x="1123950" y="4486275"/>
            <a:ext cx="447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证据不足时不强行生成结论；材料冲突时分别说明适用条件。</a:t>
            </a:r>
          </a:p>
        </p:txBody>
      </p:sp>
      <p:sp>
        <p:nvSpPr>
          <p:cNvPr id="12" name="trust-index-3">
            <a:extLst>
              <a:ext uri="{FF2B5EF4-FFF2-40B4-BE49-F238E27FC236}">
                <a16:creationId xmlns:a16="http://schemas.microsoft.com/office/drawing/2014/main" id="{1575047C-DFC6-441C-A046-771701ADDEF7}"/>
              </a:ext>
            </a:extLst>
          </p:cNvPr>
          <p:cNvSpPr>
            <a:spLocks noGrp="1"/>
          </p:cNvSpPr>
          <p:nvPr/>
        </p:nvSpPr>
        <p:spPr>
          <a:xfrm>
            <a:off x="6257925" y="3952875"/>
            <a:ext cx="552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trust-h-3">
            <a:extLst>
              <a:ext uri="{FF2B5EF4-FFF2-40B4-BE49-F238E27FC236}">
                <a16:creationId xmlns:a16="http://schemas.microsoft.com/office/drawing/2014/main" id="{D712C008-496F-4654-8A99-78738F7724F3}"/>
              </a:ext>
            </a:extLst>
          </p:cNvPr>
          <p:cNvSpPr>
            <a:spLocks noGrp="1"/>
          </p:cNvSpPr>
          <p:nvPr/>
        </p:nvSpPr>
        <p:spPr>
          <a:xfrm>
            <a:off x="6981825" y="3952875"/>
            <a:ext cx="4381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人审闭环</a:t>
            </a:r>
          </a:p>
        </p:txBody>
      </p:sp>
      <p:sp>
        <p:nvSpPr>
          <p:cNvPr id="14" name="trust-b-3">
            <a:extLst>
              <a:ext uri="{FF2B5EF4-FFF2-40B4-BE49-F238E27FC236}">
                <a16:creationId xmlns:a16="http://schemas.microsoft.com/office/drawing/2014/main" id="{C6CB5225-C710-4DA3-8604-6E2090F12E4D}"/>
              </a:ext>
            </a:extLst>
          </p:cNvPr>
          <p:cNvSpPr>
            <a:spLocks noGrp="1"/>
          </p:cNvSpPr>
          <p:nvPr/>
        </p:nvSpPr>
        <p:spPr>
          <a:xfrm>
            <a:off x="6981825" y="4486275"/>
            <a:ext cx="447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AI 生成结果由上传者确认，审核后才可发布。</a:t>
            </a:r>
          </a:p>
        </p:txBody>
      </p:sp>
    </p:spTree>
    <p:extLst>
      <p:ext uri="{BB962C8B-B14F-4D97-AF65-F5344CB8AC3E}">
        <p14:creationId xmlns:p14="http://schemas.microsoft.com/office/powerpoint/2010/main" val="1060661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accent-12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12">
            <a:extLst>
              <a:ext uri="{FF2B5EF4-FFF2-40B4-BE49-F238E27FC236}">
                <a16:creationId xmlns:a16="http://schemas.microsoft.com/office/drawing/2014/main" id="{93BCF5B8-F282-4C03-A3E8-6D7A931F326C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Skill 平台把个人脚本变成可维护的课题组能力</a:t>
            </a:r>
          </a:p>
        </p:txBody>
      </p:sp>
      <p:cxnSp>
        <p:nvCxnSpPr>
          <p:cNvPr id="27" name="skill-axis"/>
          <p:cNvCxnSpPr/>
          <p:nvPr/>
        </p:nvCxnSpPr>
        <p:spPr>
          <a:xfrm>
            <a:off x="400050" y="5219700"/>
            <a:ext cx="11391900" cy="9525"/>
          </a:xfrm>
          <a:prstGeom prst="straightConnector1">
            <a:avLst/>
          </a:prstGeom>
          <a:ln w="9525">
            <a:solidFill>
              <a:srgbClr val="0A0A0A"/>
            </a:solidFill>
            <a:prstDash val="solid"/>
          </a:ln>
        </p:spPr>
      </p:cxnSp>
      <p:sp>
        <p:nvSpPr>
          <p:cNvPr id="4" name="skill-card-0">
            <a:extLst>
              <a:ext uri="{FF2B5EF4-FFF2-40B4-BE49-F238E27FC236}">
                <a16:creationId xmlns:a16="http://schemas.microsoft.com/office/drawing/2014/main" id="{E6AF14DB-8F6B-4EC9-8B61-817EE7B5DF39}"/>
              </a:ext>
            </a:extLst>
          </p:cNvPr>
          <p:cNvSpPr>
            <a:spLocks noGrp="1"/>
          </p:cNvSpPr>
          <p:nvPr/>
        </p:nvSpPr>
        <p:spPr>
          <a:xfrm>
            <a:off x="400050" y="1790700"/>
            <a:ext cx="259080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skill-num-0">
            <a:extLst>
              <a:ext uri="{FF2B5EF4-FFF2-40B4-BE49-F238E27FC236}">
                <a16:creationId xmlns:a16="http://schemas.microsoft.com/office/drawing/2014/main" id="{B53E317F-7A95-459E-A8C0-06FBC05B6EE1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skill-h-0">
            <a:extLst>
              <a:ext uri="{FF2B5EF4-FFF2-40B4-BE49-F238E27FC236}">
                <a16:creationId xmlns:a16="http://schemas.microsoft.com/office/drawing/2014/main" id="{84492C59-4087-437D-A175-C90BAF6D0B11}"/>
              </a:ext>
            </a:extLst>
          </p:cNvPr>
          <p:cNvSpPr>
            <a:spLocks noGrp="1"/>
          </p:cNvSpPr>
          <p:nvPr/>
        </p:nvSpPr>
        <p:spPr>
          <a:xfrm>
            <a:off x="628650" y="26289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个人创建</a:t>
            </a:r>
          </a:p>
        </p:txBody>
      </p:sp>
      <p:sp>
        <p:nvSpPr>
          <p:cNvPr id="7" name="skill-b-0">
            <a:extLst>
              <a:ext uri="{FF2B5EF4-FFF2-40B4-BE49-F238E27FC236}">
                <a16:creationId xmlns:a16="http://schemas.microsoft.com/office/drawing/2014/main" id="{9F721669-81AE-4647-90C3-9A5BCCCF9B08}"/>
              </a:ext>
            </a:extLst>
          </p:cNvPr>
          <p:cNvSpPr>
            <a:spLocks noGrp="1"/>
          </p:cNvSpPr>
          <p:nvPr/>
        </p:nvSpPr>
        <p:spPr>
          <a:xfrm>
            <a:off x="628650" y="3276600"/>
            <a:ext cx="21336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Prompt、Python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MATLAB、模板</a:t>
            </a:r>
          </a:p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多步骤工作流</a:t>
            </a:r>
          </a:p>
        </p:txBody>
      </p:sp>
      <p:sp>
        <p:nvSpPr>
          <p:cNvPr id="8" name="skill-dot-0">
            <a:extLst>
              <a:ext uri="{FF2B5EF4-FFF2-40B4-BE49-F238E27FC236}">
                <a16:creationId xmlns:a16="http://schemas.microsoft.com/office/drawing/2014/main" id="{5BB1013F-3273-47AB-8C26-07D19E91230B}"/>
              </a:ext>
            </a:extLst>
          </p:cNvPr>
          <p:cNvSpPr>
            <a:spLocks noGrp="1"/>
          </p:cNvSpPr>
          <p:nvPr/>
        </p:nvSpPr>
        <p:spPr>
          <a:xfrm>
            <a:off x="400050" y="516255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9" name="skill-card-1">
            <a:extLst>
              <a:ext uri="{FF2B5EF4-FFF2-40B4-BE49-F238E27FC236}">
                <a16:creationId xmlns:a16="http://schemas.microsoft.com/office/drawing/2014/main" id="{A91AF2E7-3FC9-4B61-8B51-22D230A6F4D9}"/>
              </a:ext>
            </a:extLst>
          </p:cNvPr>
          <p:cNvSpPr>
            <a:spLocks noGrp="1"/>
          </p:cNvSpPr>
          <p:nvPr/>
        </p:nvSpPr>
        <p:spPr>
          <a:xfrm>
            <a:off x="3248025" y="1790700"/>
            <a:ext cx="259080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skill-num-1">
            <a:extLst>
              <a:ext uri="{FF2B5EF4-FFF2-40B4-BE49-F238E27FC236}">
                <a16:creationId xmlns:a16="http://schemas.microsoft.com/office/drawing/2014/main" id="{A744741C-0AFF-4992-B043-1AE72B8D82BE}"/>
              </a:ext>
            </a:extLst>
          </p:cNvPr>
          <p:cNvSpPr>
            <a:spLocks noGrp="1"/>
          </p:cNvSpPr>
          <p:nvPr/>
        </p:nvSpPr>
        <p:spPr>
          <a:xfrm>
            <a:off x="3476625" y="20383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skill-h-1">
            <a:extLst>
              <a:ext uri="{FF2B5EF4-FFF2-40B4-BE49-F238E27FC236}">
                <a16:creationId xmlns:a16="http://schemas.microsoft.com/office/drawing/2014/main" id="{3096B073-A258-44B4-AD30-D6A0389C61C4}"/>
              </a:ext>
            </a:extLst>
          </p:cNvPr>
          <p:cNvSpPr>
            <a:spLocks noGrp="1"/>
          </p:cNvSpPr>
          <p:nvPr/>
        </p:nvSpPr>
        <p:spPr>
          <a:xfrm>
            <a:off x="3476625" y="26289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测试与说明</a:t>
            </a:r>
          </a:p>
        </p:txBody>
      </p:sp>
      <p:sp>
        <p:nvSpPr>
          <p:cNvPr id="12" name="skill-b-1">
            <a:extLst>
              <a:ext uri="{FF2B5EF4-FFF2-40B4-BE49-F238E27FC236}">
                <a16:creationId xmlns:a16="http://schemas.microsoft.com/office/drawing/2014/main" id="{4C1BE314-9FCB-4E81-9DB6-C1E22369091A}"/>
              </a:ext>
            </a:extLst>
          </p:cNvPr>
          <p:cNvSpPr>
            <a:spLocks noGrp="1"/>
          </p:cNvSpPr>
          <p:nvPr/>
        </p:nvSpPr>
        <p:spPr>
          <a:xfrm>
            <a:off x="3476625" y="3276600"/>
            <a:ext cx="21336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明确输入、输出、依赖与使用示例</a:t>
            </a:r>
          </a:p>
        </p:txBody>
      </p:sp>
      <p:sp>
        <p:nvSpPr>
          <p:cNvPr id="13" name="skill-dot-1">
            <a:extLst>
              <a:ext uri="{FF2B5EF4-FFF2-40B4-BE49-F238E27FC236}">
                <a16:creationId xmlns:a16="http://schemas.microsoft.com/office/drawing/2014/main" id="{2EFB708A-B691-4377-8C90-3C2D77559D9A}"/>
              </a:ext>
            </a:extLst>
          </p:cNvPr>
          <p:cNvSpPr>
            <a:spLocks noGrp="1"/>
          </p:cNvSpPr>
          <p:nvPr/>
        </p:nvSpPr>
        <p:spPr>
          <a:xfrm>
            <a:off x="3248025" y="516255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4" name="skill-card-2">
            <a:extLst>
              <a:ext uri="{FF2B5EF4-FFF2-40B4-BE49-F238E27FC236}">
                <a16:creationId xmlns:a16="http://schemas.microsoft.com/office/drawing/2014/main" id="{59A73489-0B14-42C2-A4D5-22E6B15B8C89}"/>
              </a:ext>
            </a:extLst>
          </p:cNvPr>
          <p:cNvSpPr>
            <a:spLocks noGrp="1"/>
          </p:cNvSpPr>
          <p:nvPr/>
        </p:nvSpPr>
        <p:spPr>
          <a:xfrm>
            <a:off x="6096000" y="1790700"/>
            <a:ext cx="2590800" cy="29527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5" name="skill-num-2">
            <a:extLst>
              <a:ext uri="{FF2B5EF4-FFF2-40B4-BE49-F238E27FC236}">
                <a16:creationId xmlns:a16="http://schemas.microsoft.com/office/drawing/2014/main" id="{988E7E7A-A490-4CF7-806F-8B204BD12EA8}"/>
              </a:ext>
            </a:extLst>
          </p:cNvPr>
          <p:cNvSpPr>
            <a:spLocks noGrp="1"/>
          </p:cNvSpPr>
          <p:nvPr/>
        </p:nvSpPr>
        <p:spPr>
          <a:xfrm>
            <a:off x="6324600" y="20383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skill-h-2">
            <a:extLst>
              <a:ext uri="{FF2B5EF4-FFF2-40B4-BE49-F238E27FC236}">
                <a16:creationId xmlns:a16="http://schemas.microsoft.com/office/drawing/2014/main" id="{F2FD85EF-4EA4-4A84-B1AF-53D7A46A6F14}"/>
              </a:ext>
            </a:extLst>
          </p:cNvPr>
          <p:cNvSpPr>
            <a:spLocks noGrp="1"/>
          </p:cNvSpPr>
          <p:nvPr/>
        </p:nvSpPr>
        <p:spPr>
          <a:xfrm>
            <a:off x="6324600" y="26289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共享审核</a:t>
            </a:r>
          </a:p>
        </p:txBody>
      </p:sp>
      <p:sp>
        <p:nvSpPr>
          <p:cNvPr id="17" name="skill-b-2">
            <a:extLst>
              <a:ext uri="{FF2B5EF4-FFF2-40B4-BE49-F238E27FC236}">
                <a16:creationId xmlns:a16="http://schemas.microsoft.com/office/drawing/2014/main" id="{18E52FE2-7948-4A39-BE7F-8EB085227D20}"/>
              </a:ext>
            </a:extLst>
          </p:cNvPr>
          <p:cNvSpPr>
            <a:spLocks noGrp="1"/>
          </p:cNvSpPr>
          <p:nvPr/>
        </p:nvSpPr>
        <p:spPr>
          <a:xfrm>
            <a:off x="6324600" y="3276600"/>
            <a:ext cx="21336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管理员检查安全性、可用性与版本</a:t>
            </a:r>
          </a:p>
        </p:txBody>
      </p:sp>
      <p:sp>
        <p:nvSpPr>
          <p:cNvPr id="18" name="skill-dot-2">
            <a:extLst>
              <a:ext uri="{FF2B5EF4-FFF2-40B4-BE49-F238E27FC236}">
                <a16:creationId xmlns:a16="http://schemas.microsoft.com/office/drawing/2014/main" id="{A31B2B07-D885-49A8-BDDD-11739E1D8DF7}"/>
              </a:ext>
            </a:extLst>
          </p:cNvPr>
          <p:cNvSpPr>
            <a:spLocks noGrp="1"/>
          </p:cNvSpPr>
          <p:nvPr/>
        </p:nvSpPr>
        <p:spPr>
          <a:xfrm>
            <a:off x="6096000" y="516255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9" name="skill-card-3">
            <a:extLst>
              <a:ext uri="{FF2B5EF4-FFF2-40B4-BE49-F238E27FC236}">
                <a16:creationId xmlns:a16="http://schemas.microsoft.com/office/drawing/2014/main" id="{CA73317F-6B32-495C-85A4-1A3C2C9739A7}"/>
              </a:ext>
            </a:extLst>
          </p:cNvPr>
          <p:cNvSpPr>
            <a:spLocks noGrp="1"/>
          </p:cNvSpPr>
          <p:nvPr/>
        </p:nvSpPr>
        <p:spPr>
          <a:xfrm>
            <a:off x="8943975" y="1790700"/>
            <a:ext cx="259080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0" name="skill-num-3">
            <a:extLst>
              <a:ext uri="{FF2B5EF4-FFF2-40B4-BE49-F238E27FC236}">
                <a16:creationId xmlns:a16="http://schemas.microsoft.com/office/drawing/2014/main" id="{CAAC43B7-77AF-4365-BAFB-06F5D95E3AD9}"/>
              </a:ext>
            </a:extLst>
          </p:cNvPr>
          <p:cNvSpPr>
            <a:spLocks noGrp="1"/>
          </p:cNvSpPr>
          <p:nvPr/>
        </p:nvSpPr>
        <p:spPr>
          <a:xfrm>
            <a:off x="9172575" y="2038350"/>
            <a:ext cx="66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skill-h-3">
            <a:extLst>
              <a:ext uri="{FF2B5EF4-FFF2-40B4-BE49-F238E27FC236}">
                <a16:creationId xmlns:a16="http://schemas.microsoft.com/office/drawing/2014/main" id="{FEF31685-D1C0-4CDD-9313-A25CB7C76513}"/>
              </a:ext>
            </a:extLst>
          </p:cNvPr>
          <p:cNvSpPr>
            <a:spLocks noGrp="1"/>
          </p:cNvSpPr>
          <p:nvPr/>
        </p:nvSpPr>
        <p:spPr>
          <a:xfrm>
            <a:off x="9172575" y="2628900"/>
            <a:ext cx="2133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发布与反馈</a:t>
            </a:r>
          </a:p>
        </p:txBody>
      </p:sp>
      <p:sp>
        <p:nvSpPr>
          <p:cNvPr id="22" name="skill-b-3">
            <a:extLst>
              <a:ext uri="{FF2B5EF4-FFF2-40B4-BE49-F238E27FC236}">
                <a16:creationId xmlns:a16="http://schemas.microsoft.com/office/drawing/2014/main" id="{4E95FAE9-B43D-4A02-B979-8D1B7D97299D}"/>
              </a:ext>
            </a:extLst>
          </p:cNvPr>
          <p:cNvSpPr>
            <a:spLocks noGrp="1"/>
          </p:cNvSpPr>
          <p:nvPr/>
        </p:nvSpPr>
        <p:spPr>
          <a:xfrm>
            <a:off x="9172575" y="3276600"/>
            <a:ext cx="213360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成员下载使用，问题回流并迭代或停用</a:t>
            </a:r>
          </a:p>
        </p:txBody>
      </p:sp>
      <p:sp>
        <p:nvSpPr>
          <p:cNvPr id="23" name="skill-dot-3">
            <a:extLst>
              <a:ext uri="{FF2B5EF4-FFF2-40B4-BE49-F238E27FC236}">
                <a16:creationId xmlns:a16="http://schemas.microsoft.com/office/drawing/2014/main" id="{C845ECCA-2128-4C1A-86CD-5C10956B724A}"/>
              </a:ext>
            </a:extLst>
          </p:cNvPr>
          <p:cNvSpPr>
            <a:spLocks noGrp="1"/>
          </p:cNvSpPr>
          <p:nvPr/>
        </p:nvSpPr>
        <p:spPr>
          <a:xfrm>
            <a:off x="8943975" y="516255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24" name="skill-level">
            <a:extLst>
              <a:ext uri="{FF2B5EF4-FFF2-40B4-BE49-F238E27FC236}">
                <a16:creationId xmlns:a16="http://schemas.microsoft.com/office/drawing/2014/main" id="{5B1C2ABD-C341-4035-82FF-57E561070B0B}"/>
              </a:ext>
            </a:extLst>
          </p:cNvPr>
          <p:cNvSpPr>
            <a:spLocks noGrp="1"/>
          </p:cNvSpPr>
          <p:nvPr/>
        </p:nvSpPr>
        <p:spPr>
          <a:xfrm>
            <a:off x="400050" y="5667375"/>
            <a:ext cx="838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状态分层：个人 · 待审核 · 共享 · 已弃用 · 已停用</a:t>
            </a:r>
          </a:p>
        </p:txBody>
      </p:sp>
    </p:spTree>
    <p:extLst>
      <p:ext uri="{BB962C8B-B14F-4D97-AF65-F5344CB8AC3E}">
        <p14:creationId xmlns:p14="http://schemas.microsoft.com/office/powerpoint/2010/main" val="1537823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accent-13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13">
            <a:extLst>
              <a:ext uri="{FF2B5EF4-FFF2-40B4-BE49-F238E27FC236}">
                <a16:creationId xmlns:a16="http://schemas.microsoft.com/office/drawing/2014/main" id="{3D7980A9-BA9C-4149-96FD-6F9ACBB2A34E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三类角色分工明确，内容责任落到上传者</a:t>
            </a:r>
          </a:p>
        </p:txBody>
      </p:sp>
      <p:cxnSp>
        <p:nvCxnSpPr>
          <p:cNvPr id="16" name="role-band-0"/>
          <p:cNvCxnSpPr/>
          <p:nvPr/>
        </p:nvCxnSpPr>
        <p:spPr>
          <a:xfrm>
            <a:off x="400050" y="1866900"/>
            <a:ext cx="3562350" cy="76200"/>
          </a:xfrm>
          <a:prstGeom prst="straightConnector1">
            <a:avLst/>
          </a:prstGeom>
          <a:ln w="76200">
            <a:solidFill>
              <a:srgbClr val="0A0A0A"/>
            </a:solidFill>
            <a:prstDash val="solid"/>
          </a:ln>
        </p:spPr>
      </p:cxnSp>
      <p:sp>
        <p:nvSpPr>
          <p:cNvPr id="4" name="role-h-0">
            <a:extLst>
              <a:ext uri="{FF2B5EF4-FFF2-40B4-BE49-F238E27FC236}">
                <a16:creationId xmlns:a16="http://schemas.microsoft.com/office/drawing/2014/main" id="{8A9DD5EA-C6E0-4F60-BDDE-AC7332E4C4F3}"/>
              </a:ext>
            </a:extLst>
          </p:cNvPr>
          <p:cNvSpPr>
            <a:spLocks noGrp="1"/>
          </p:cNvSpPr>
          <p:nvPr/>
        </p:nvSpPr>
        <p:spPr>
          <a:xfrm>
            <a:off x="400050" y="2247900"/>
            <a:ext cx="3562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5" name="role-b-0">
            <a:extLst>
              <a:ext uri="{FF2B5EF4-FFF2-40B4-BE49-F238E27FC236}">
                <a16:creationId xmlns:a16="http://schemas.microsoft.com/office/drawing/2014/main" id="{873CF377-BA0C-4A0C-A287-793FE63CFE77}"/>
              </a:ext>
            </a:extLst>
          </p:cNvPr>
          <p:cNvSpPr>
            <a:spLocks noGrp="1"/>
          </p:cNvSpPr>
          <p:nvPr/>
        </p:nvSpPr>
        <p:spPr>
          <a:xfrm>
            <a:off x="400050" y="3028950"/>
            <a:ext cx="33337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成员与权限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邀请码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内容与 Skill 审核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任务、日志与模块开关</a:t>
            </a:r>
          </a:p>
        </p:txBody>
      </p:sp>
      <p:cxnSp>
        <p:nvCxnSpPr>
          <p:cNvPr id="19" name="role-band-1"/>
          <p:cNvCxnSpPr/>
          <p:nvPr/>
        </p:nvCxnSpPr>
        <p:spPr>
          <a:xfrm>
            <a:off x="4314825" y="1866900"/>
            <a:ext cx="3562350" cy="76200"/>
          </a:xfrm>
          <a:prstGeom prst="straightConnector1">
            <a:avLst/>
          </a:prstGeom>
          <a:ln w="76200">
            <a:solidFill>
              <a:srgbClr val="3D8DFF"/>
            </a:solidFill>
            <a:prstDash val="solid"/>
          </a:ln>
        </p:spPr>
      </p:cxnSp>
      <p:sp>
        <p:nvSpPr>
          <p:cNvPr id="7" name="role-h-1">
            <a:extLst>
              <a:ext uri="{FF2B5EF4-FFF2-40B4-BE49-F238E27FC236}">
                <a16:creationId xmlns:a16="http://schemas.microsoft.com/office/drawing/2014/main" id="{F23F4697-D62B-44B4-AAC4-9C6721A2E945}"/>
              </a:ext>
            </a:extLst>
          </p:cNvPr>
          <p:cNvSpPr>
            <a:spLocks noGrp="1"/>
          </p:cNvSpPr>
          <p:nvPr/>
        </p:nvSpPr>
        <p:spPr>
          <a:xfrm>
            <a:off x="4314825" y="2247900"/>
            <a:ext cx="3562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普通成员</a:t>
            </a:r>
          </a:p>
        </p:txBody>
      </p:sp>
      <p:sp>
        <p:nvSpPr>
          <p:cNvPr id="8" name="role-b-1">
            <a:extLst>
              <a:ext uri="{FF2B5EF4-FFF2-40B4-BE49-F238E27FC236}">
                <a16:creationId xmlns:a16="http://schemas.microsoft.com/office/drawing/2014/main" id="{9C44738A-B0E2-4DC2-A026-9EBF74FD8E70}"/>
              </a:ext>
            </a:extLst>
          </p:cNvPr>
          <p:cNvSpPr>
            <a:spLocks noGrp="1"/>
          </p:cNvSpPr>
          <p:nvPr/>
        </p:nvSpPr>
        <p:spPr>
          <a:xfrm>
            <a:off x="4314825" y="3028950"/>
            <a:ext cx="33337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上传并审核自己的资料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发布与修改内容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检索知识库、使用 Agent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下载共享 Skill</a:t>
            </a:r>
          </a:p>
        </p:txBody>
      </p:sp>
      <p:cxnSp>
        <p:nvCxnSpPr>
          <p:cNvPr id="22" name="role-band-2"/>
          <p:cNvCxnSpPr/>
          <p:nvPr/>
        </p:nvCxnSpPr>
        <p:spPr>
          <a:xfrm>
            <a:off x="8229600" y="1866900"/>
            <a:ext cx="3562350" cy="76200"/>
          </a:xfrm>
          <a:prstGeom prst="straightConnector1">
            <a:avLst/>
          </a:prstGeom>
          <a:ln w="76200">
            <a:solidFill>
              <a:srgbClr val="0A0A0A"/>
            </a:solidFill>
            <a:prstDash val="solid"/>
          </a:ln>
        </p:spPr>
      </p:cxnSp>
      <p:sp>
        <p:nvSpPr>
          <p:cNvPr id="10" name="role-h-2">
            <a:extLst>
              <a:ext uri="{FF2B5EF4-FFF2-40B4-BE49-F238E27FC236}">
                <a16:creationId xmlns:a16="http://schemas.microsoft.com/office/drawing/2014/main" id="{9B2BBB85-9245-4588-BD78-1A06719ADE0B}"/>
              </a:ext>
            </a:extLst>
          </p:cNvPr>
          <p:cNvSpPr>
            <a:spLocks noGrp="1"/>
          </p:cNvSpPr>
          <p:nvPr/>
        </p:nvSpPr>
        <p:spPr>
          <a:xfrm>
            <a:off x="8229600" y="2247900"/>
            <a:ext cx="3562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开发协作者</a:t>
            </a:r>
          </a:p>
        </p:txBody>
      </p:sp>
      <p:sp>
        <p:nvSpPr>
          <p:cNvPr id="11" name="role-b-2">
            <a:extLst>
              <a:ext uri="{FF2B5EF4-FFF2-40B4-BE49-F238E27FC236}">
                <a16:creationId xmlns:a16="http://schemas.microsoft.com/office/drawing/2014/main" id="{C8933EDA-6CA0-48E1-BD49-4849C4BF11DA}"/>
              </a:ext>
            </a:extLst>
          </p:cNvPr>
          <p:cNvSpPr>
            <a:spLocks noGrp="1"/>
          </p:cNvSpPr>
          <p:nvPr/>
        </p:nvSpPr>
        <p:spPr>
          <a:xfrm>
            <a:off x="8229600" y="3028950"/>
            <a:ext cx="333375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维护平台代码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处理反馈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协助排查任务问题</a:t>
            </a:r>
          </a:p>
        </p:txBody>
      </p:sp>
      <p:sp>
        <p:nvSpPr>
          <p:cNvPr id="12" name="role-principle">
            <a:extLst>
              <a:ext uri="{FF2B5EF4-FFF2-40B4-BE49-F238E27FC236}">
                <a16:creationId xmlns:a16="http://schemas.microsoft.com/office/drawing/2014/main" id="{A43FCD9E-4979-4761-A60F-11E5E9CCD0B2}"/>
              </a:ext>
            </a:extLst>
          </p:cNvPr>
          <p:cNvSpPr>
            <a:spLocks noGrp="1"/>
          </p:cNvSpPr>
          <p:nvPr/>
        </p:nvSpPr>
        <p:spPr>
          <a:xfrm>
            <a:off x="400050" y="5524500"/>
            <a:ext cx="11391900" cy="5905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3" name="role-principle-text">
            <a:extLst>
              <a:ext uri="{FF2B5EF4-FFF2-40B4-BE49-F238E27FC236}">
                <a16:creationId xmlns:a16="http://schemas.microsoft.com/office/drawing/2014/main" id="{6B412D77-50D8-4108-B845-E5225E45750C}"/>
              </a:ext>
            </a:extLst>
          </p:cNvPr>
          <p:cNvSpPr>
            <a:spLocks noGrp="1"/>
          </p:cNvSpPr>
          <p:nvPr/>
        </p:nvSpPr>
        <p:spPr>
          <a:xfrm>
            <a:off x="666750" y="5667375"/>
            <a:ext cx="1085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“谁上传，谁负责初次审核和维护”——减少中心化运营负担，也让知识责任可追溯。</a:t>
            </a:r>
          </a:p>
        </p:txBody>
      </p:sp>
    </p:spTree>
    <p:extLst>
      <p:ext uri="{BB962C8B-B14F-4D97-AF65-F5344CB8AC3E}">
        <p14:creationId xmlns:p14="http://schemas.microsoft.com/office/powerpoint/2010/main" val="1670773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accent-14"/>
          <p:cNvCxnSpPr/>
          <p:nvPr/>
        </p:nvCxnSpPr>
        <p:spPr>
          <a:xfrm>
            <a:off x="400050" y="304800"/>
            <a:ext cx="838200" cy="3810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14">
            <a:extLst>
              <a:ext uri="{FF2B5EF4-FFF2-40B4-BE49-F238E27FC236}">
                <a16:creationId xmlns:a16="http://schemas.microsoft.com/office/drawing/2014/main" id="{EE506E14-CE1B-4862-98FF-A15D478A69E6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主数据、索引、模型与代码仓库各司其职</a:t>
            </a:r>
          </a:p>
        </p:txBody>
      </p:sp>
      <p:sp>
        <p:nvSpPr>
          <p:cNvPr id="3" name="infra-card-0">
            <a:extLst>
              <a:ext uri="{FF2B5EF4-FFF2-40B4-BE49-F238E27FC236}">
                <a16:creationId xmlns:a16="http://schemas.microsoft.com/office/drawing/2014/main" id="{84631DAA-4997-42E3-903E-5C4EDDF9607A}"/>
              </a:ext>
            </a:extLst>
          </p:cNvPr>
          <p:cNvSpPr>
            <a:spLocks noGrp="1"/>
          </p:cNvSpPr>
          <p:nvPr/>
        </p:nvSpPr>
        <p:spPr>
          <a:xfrm>
            <a:off x="400050" y="2076450"/>
            <a:ext cx="2047875" cy="2762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infra-card-h-0">
            <a:extLst>
              <a:ext uri="{FF2B5EF4-FFF2-40B4-BE49-F238E27FC236}">
                <a16:creationId xmlns:a16="http://schemas.microsoft.com/office/drawing/2014/main" id="{6A0BD293-4923-4AFA-882C-9C86096A156B}"/>
              </a:ext>
            </a:extLst>
          </p:cNvPr>
          <p:cNvSpPr>
            <a:spLocks noGrp="1"/>
          </p:cNvSpPr>
          <p:nvPr/>
        </p:nvSpPr>
        <p:spPr>
          <a:xfrm>
            <a:off x="590550" y="2352675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NJU Box</a:t>
            </a:r>
          </a:p>
        </p:txBody>
      </p:sp>
      <p:sp>
        <p:nvSpPr>
          <p:cNvPr id="5" name="infra-card-b-0">
            <a:extLst>
              <a:ext uri="{FF2B5EF4-FFF2-40B4-BE49-F238E27FC236}">
                <a16:creationId xmlns:a16="http://schemas.microsoft.com/office/drawing/2014/main" id="{B6C78999-9C31-4486-91EC-5D441F8B2DFA}"/>
              </a:ext>
            </a:extLst>
          </p:cNvPr>
          <p:cNvSpPr>
            <a:spLocks noGrp="1"/>
          </p:cNvSpPr>
          <p:nvPr/>
        </p:nvSpPr>
        <p:spPr>
          <a:xfrm>
            <a:off x="590550" y="3190875"/>
            <a:ext cx="16668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原件与解析产物</a:t>
            </a:r>
          </a:p>
          <a:p>
            <a:pPr algn="ctr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长期内容仓库</a:t>
            </a:r>
          </a:p>
        </p:txBody>
      </p:sp>
      <p:sp>
        <p:nvSpPr>
          <p:cNvPr id="6" name="infra-card-1">
            <a:extLst>
              <a:ext uri="{FF2B5EF4-FFF2-40B4-BE49-F238E27FC236}">
                <a16:creationId xmlns:a16="http://schemas.microsoft.com/office/drawing/2014/main" id="{998BB374-17F2-4227-83F1-669B1E4D1BA4}"/>
              </a:ext>
            </a:extLst>
          </p:cNvPr>
          <p:cNvSpPr>
            <a:spLocks noGrp="1"/>
          </p:cNvSpPr>
          <p:nvPr/>
        </p:nvSpPr>
        <p:spPr>
          <a:xfrm>
            <a:off x="2676525" y="2076450"/>
            <a:ext cx="2047875" cy="2762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infra-card-h-1">
            <a:extLst>
              <a:ext uri="{FF2B5EF4-FFF2-40B4-BE49-F238E27FC236}">
                <a16:creationId xmlns:a16="http://schemas.microsoft.com/office/drawing/2014/main" id="{789A17D9-DC2B-499A-BA51-74B80206719C}"/>
              </a:ext>
            </a:extLst>
          </p:cNvPr>
          <p:cNvSpPr>
            <a:spLocks noGrp="1"/>
          </p:cNvSpPr>
          <p:nvPr/>
        </p:nvSpPr>
        <p:spPr>
          <a:xfrm>
            <a:off x="2867025" y="2352675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业务数据库</a:t>
            </a:r>
          </a:p>
        </p:txBody>
      </p:sp>
      <p:sp>
        <p:nvSpPr>
          <p:cNvPr id="8" name="infra-card-b-1">
            <a:extLst>
              <a:ext uri="{FF2B5EF4-FFF2-40B4-BE49-F238E27FC236}">
                <a16:creationId xmlns:a16="http://schemas.microsoft.com/office/drawing/2014/main" id="{3906C855-FEC2-4209-BEA3-400E099C0A2F}"/>
              </a:ext>
            </a:extLst>
          </p:cNvPr>
          <p:cNvSpPr>
            <a:spLocks noGrp="1"/>
          </p:cNvSpPr>
          <p:nvPr/>
        </p:nvSpPr>
        <p:spPr>
          <a:xfrm>
            <a:off x="2867025" y="3190875"/>
            <a:ext cx="16668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归属、状态、权限、版本</a:t>
            </a:r>
          </a:p>
          <a:p>
            <a:pPr algn="ctr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任务、日志与反馈</a:t>
            </a:r>
          </a:p>
        </p:txBody>
      </p:sp>
      <p:sp>
        <p:nvSpPr>
          <p:cNvPr id="9" name="infra-card-2">
            <a:extLst>
              <a:ext uri="{FF2B5EF4-FFF2-40B4-BE49-F238E27FC236}">
                <a16:creationId xmlns:a16="http://schemas.microsoft.com/office/drawing/2014/main" id="{8D80B35B-F78F-4FB2-B83C-60C18BF33364}"/>
              </a:ext>
            </a:extLst>
          </p:cNvPr>
          <p:cNvSpPr>
            <a:spLocks noGrp="1"/>
          </p:cNvSpPr>
          <p:nvPr/>
        </p:nvSpPr>
        <p:spPr>
          <a:xfrm>
            <a:off x="4953000" y="2076450"/>
            <a:ext cx="2047875" cy="27622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10" name="infra-card-h-2">
            <a:extLst>
              <a:ext uri="{FF2B5EF4-FFF2-40B4-BE49-F238E27FC236}">
                <a16:creationId xmlns:a16="http://schemas.microsoft.com/office/drawing/2014/main" id="{6FC6B173-BA11-4B1A-B960-47657AB2DCBF}"/>
              </a:ext>
            </a:extLst>
          </p:cNvPr>
          <p:cNvSpPr>
            <a:spLocks noGrp="1"/>
          </p:cNvSpPr>
          <p:nvPr/>
        </p:nvSpPr>
        <p:spPr>
          <a:xfrm>
            <a:off x="5143500" y="2352675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检索索引</a:t>
            </a:r>
          </a:p>
        </p:txBody>
      </p:sp>
      <p:sp>
        <p:nvSpPr>
          <p:cNvPr id="11" name="infra-card-b-2">
            <a:extLst>
              <a:ext uri="{FF2B5EF4-FFF2-40B4-BE49-F238E27FC236}">
                <a16:creationId xmlns:a16="http://schemas.microsoft.com/office/drawing/2014/main" id="{485978B0-D803-4935-B7C8-01C79C880387}"/>
              </a:ext>
            </a:extLst>
          </p:cNvPr>
          <p:cNvSpPr>
            <a:spLocks noGrp="1"/>
          </p:cNvSpPr>
          <p:nvPr/>
        </p:nvSpPr>
        <p:spPr>
          <a:xfrm>
            <a:off x="5143500" y="3190875"/>
            <a:ext cx="16668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片段、向量、关键词与排序</a:t>
            </a:r>
          </a:p>
          <a:p>
            <a:pPr algn="ctr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可从主数据重建</a:t>
            </a:r>
          </a:p>
        </p:txBody>
      </p:sp>
      <p:sp>
        <p:nvSpPr>
          <p:cNvPr id="12" name="infra-card-3">
            <a:extLst>
              <a:ext uri="{FF2B5EF4-FFF2-40B4-BE49-F238E27FC236}">
                <a16:creationId xmlns:a16="http://schemas.microsoft.com/office/drawing/2014/main" id="{82E235BB-8AB8-433D-886F-65B921608F4B}"/>
              </a:ext>
            </a:extLst>
          </p:cNvPr>
          <p:cNvSpPr>
            <a:spLocks noGrp="1"/>
          </p:cNvSpPr>
          <p:nvPr/>
        </p:nvSpPr>
        <p:spPr>
          <a:xfrm>
            <a:off x="7229475" y="2076450"/>
            <a:ext cx="2047875" cy="2762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infra-card-h-3">
            <a:extLst>
              <a:ext uri="{FF2B5EF4-FFF2-40B4-BE49-F238E27FC236}">
                <a16:creationId xmlns:a16="http://schemas.microsoft.com/office/drawing/2014/main" id="{F3891D92-8919-4148-9355-987A02B19CC7}"/>
              </a:ext>
            </a:extLst>
          </p:cNvPr>
          <p:cNvSpPr>
            <a:spLocks noGrp="1"/>
          </p:cNvSpPr>
          <p:nvPr/>
        </p:nvSpPr>
        <p:spPr>
          <a:xfrm>
            <a:off x="7419975" y="2352675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模型服务</a:t>
            </a:r>
          </a:p>
        </p:txBody>
      </p:sp>
      <p:sp>
        <p:nvSpPr>
          <p:cNvPr id="14" name="infra-card-b-3">
            <a:extLst>
              <a:ext uri="{FF2B5EF4-FFF2-40B4-BE49-F238E27FC236}">
                <a16:creationId xmlns:a16="http://schemas.microsoft.com/office/drawing/2014/main" id="{8BF359DC-D3ED-47CE-B108-BFA1E55EB9AF}"/>
              </a:ext>
            </a:extLst>
          </p:cNvPr>
          <p:cNvSpPr>
            <a:spLocks noGrp="1"/>
          </p:cNvSpPr>
          <p:nvPr/>
        </p:nvSpPr>
        <p:spPr>
          <a:xfrm>
            <a:off x="7419975" y="3190875"/>
            <a:ext cx="16668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摘要、提取、整理、向量与问答</a:t>
            </a:r>
          </a:p>
          <a:p>
            <a:pPr algn="ctr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与网站独立运行</a:t>
            </a:r>
          </a:p>
        </p:txBody>
      </p:sp>
      <p:sp>
        <p:nvSpPr>
          <p:cNvPr id="15" name="infra-card-4">
            <a:extLst>
              <a:ext uri="{FF2B5EF4-FFF2-40B4-BE49-F238E27FC236}">
                <a16:creationId xmlns:a16="http://schemas.microsoft.com/office/drawing/2014/main" id="{4A664DBB-74CB-4E09-92A5-C308EFE3D2AE}"/>
              </a:ext>
            </a:extLst>
          </p:cNvPr>
          <p:cNvSpPr>
            <a:spLocks noGrp="1"/>
          </p:cNvSpPr>
          <p:nvPr/>
        </p:nvSpPr>
        <p:spPr>
          <a:xfrm>
            <a:off x="9505950" y="2076450"/>
            <a:ext cx="2047875" cy="27622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6" name="infra-card-h-4">
            <a:extLst>
              <a:ext uri="{FF2B5EF4-FFF2-40B4-BE49-F238E27FC236}">
                <a16:creationId xmlns:a16="http://schemas.microsoft.com/office/drawing/2014/main" id="{1182CC66-52BD-4C56-8BFC-73A89A0FC0A4}"/>
              </a:ext>
            </a:extLst>
          </p:cNvPr>
          <p:cNvSpPr>
            <a:spLocks noGrp="1"/>
          </p:cNvSpPr>
          <p:nvPr/>
        </p:nvSpPr>
        <p:spPr>
          <a:xfrm>
            <a:off x="9696450" y="2352675"/>
            <a:ext cx="16668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GitHub</a:t>
            </a:r>
          </a:p>
        </p:txBody>
      </p:sp>
      <p:sp>
        <p:nvSpPr>
          <p:cNvPr id="17" name="infra-card-b-4">
            <a:extLst>
              <a:ext uri="{FF2B5EF4-FFF2-40B4-BE49-F238E27FC236}">
                <a16:creationId xmlns:a16="http://schemas.microsoft.com/office/drawing/2014/main" id="{9535FA26-0529-40C3-BD14-1FEF8EA4055B}"/>
              </a:ext>
            </a:extLst>
          </p:cNvPr>
          <p:cNvSpPr>
            <a:spLocks noGrp="1"/>
          </p:cNvSpPr>
          <p:nvPr/>
        </p:nvSpPr>
        <p:spPr>
          <a:xfrm>
            <a:off x="9696450" y="3190875"/>
            <a:ext cx="1666875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平台/Skill 源码、测试、规范</a:t>
            </a:r>
          </a:p>
          <a:p>
            <a:pPr algn="ctr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Actions 与部署配置</a:t>
            </a:r>
          </a:p>
        </p:txBody>
      </p:sp>
      <p:sp>
        <p:nvSpPr>
          <p:cNvPr id="18" name="infra-split">
            <a:extLst>
              <a:ext uri="{FF2B5EF4-FFF2-40B4-BE49-F238E27FC236}">
                <a16:creationId xmlns:a16="http://schemas.microsoft.com/office/drawing/2014/main" id="{67373014-E686-45D8-AABD-DC2624C45BBF}"/>
              </a:ext>
            </a:extLst>
          </p:cNvPr>
          <p:cNvSpPr>
            <a:spLocks noGrp="1"/>
          </p:cNvSpPr>
          <p:nvPr/>
        </p:nvSpPr>
        <p:spPr>
          <a:xfrm>
            <a:off x="400050" y="5286375"/>
            <a:ext cx="1381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关键分工</a:t>
            </a:r>
          </a:p>
        </p:txBody>
      </p:sp>
      <p:sp>
        <p:nvSpPr>
          <p:cNvPr id="19" name="infra-file">
            <a:extLst>
              <a:ext uri="{FF2B5EF4-FFF2-40B4-BE49-F238E27FC236}">
                <a16:creationId xmlns:a16="http://schemas.microsoft.com/office/drawing/2014/main" id="{CD037E12-D9BC-48ED-8F17-A7380AB0E389}"/>
              </a:ext>
            </a:extLst>
          </p:cNvPr>
          <p:cNvSpPr>
            <a:spLocks noGrp="1"/>
          </p:cNvSpPr>
          <p:nvPr/>
        </p:nvSpPr>
        <p:spPr>
          <a:xfrm>
            <a:off x="1905000" y="5219700"/>
            <a:ext cx="4095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98"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NJU Box 回答“文件是什么、放在哪里”</a:t>
            </a:r>
          </a:p>
        </p:txBody>
      </p:sp>
      <p:sp>
        <p:nvSpPr>
          <p:cNvPr id="20" name="infra-state">
            <a:extLst>
              <a:ext uri="{FF2B5EF4-FFF2-40B4-BE49-F238E27FC236}">
                <a16:creationId xmlns:a16="http://schemas.microsoft.com/office/drawing/2014/main" id="{E44DDAB2-2F1B-4839-8135-5CECE355E957}"/>
              </a:ext>
            </a:extLst>
          </p:cNvPr>
          <p:cNvSpPr>
            <a:spLocks noGrp="1"/>
          </p:cNvSpPr>
          <p:nvPr/>
        </p:nvSpPr>
        <p:spPr>
          <a:xfrm>
            <a:off x="6438900" y="52197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业务数据库回答“属于谁、什么状态、谁能访问”</a:t>
            </a:r>
          </a:p>
        </p:txBody>
      </p:sp>
    </p:spTree>
    <p:extLst>
      <p:ext uri="{BB962C8B-B14F-4D97-AF65-F5344CB8AC3E}">
        <p14:creationId xmlns:p14="http://schemas.microsoft.com/office/powerpoint/2010/main" val="451111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5">
            <a:extLst>
              <a:ext uri="{FF2B5EF4-FFF2-40B4-BE49-F238E27FC236}">
                <a16:creationId xmlns:a16="http://schemas.microsoft.com/office/drawing/2014/main" id="{49C8F9D1-6007-4B6C-8408-668C36D2532B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模型故障不等于平台停摆，风险被隔离在模块边界内</a:t>
            </a:r>
          </a:p>
        </p:txBody>
      </p:sp>
      <p:sp>
        <p:nvSpPr>
          <p:cNvPr id="3" name="res-left">
            <a:extLst>
              <a:ext uri="{FF2B5EF4-FFF2-40B4-BE49-F238E27FC236}">
                <a16:creationId xmlns:a16="http://schemas.microsoft.com/office/drawing/2014/main" id="{498127C9-D078-41D4-A88D-01628B4C713A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562350" cy="3429000"/>
          </a:xfrm>
          <a:prstGeom prst="rect">
            <a:avLst/>
          </a:prstGeom>
          <a:solidFill>
            <a:srgbClr val="101820"/>
          </a:solidFill>
          <a:ln w="0">
            <a:noFill/>
            <a:prstDash val="solid"/>
          </a:ln>
        </p:spPr>
      </p:sp>
      <p:sp>
        <p:nvSpPr>
          <p:cNvPr id="4" name="res-left-h">
            <a:extLst>
              <a:ext uri="{FF2B5EF4-FFF2-40B4-BE49-F238E27FC236}">
                <a16:creationId xmlns:a16="http://schemas.microsoft.com/office/drawing/2014/main" id="{A153DB03-2419-4772-807F-D167767B753E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29908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模型服务异常</a:t>
            </a:r>
          </a:p>
        </p:txBody>
      </p:sp>
      <p:sp>
        <p:nvSpPr>
          <p:cNvPr id="5" name="res-left-b">
            <a:extLst>
              <a:ext uri="{FF2B5EF4-FFF2-40B4-BE49-F238E27FC236}">
                <a16:creationId xmlns:a16="http://schemas.microsoft.com/office/drawing/2014/main" id="{554FEEEA-8791-47D0-9034-1454BC74D19E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2857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新任务进入等待队列</a:t>
            </a:r>
          </a:p>
          <a:p>
            <a:pPr algn="l">
              <a:lnSpc>
                <a:spcPct val="105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Agent 暂停回答</a:t>
            </a:r>
          </a:p>
          <a:p>
            <a:pPr algn="l">
              <a:lnSpc>
                <a:spcPct val="105000"/>
              </a:lnSpc>
              <a:buNone/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模型恢复后继续处理</a:t>
            </a:r>
          </a:p>
        </p:txBody>
      </p:sp>
      <p:cxnSp>
        <p:nvCxnSpPr>
          <p:cNvPr id="20" name="res-flow-1"/>
          <p:cNvCxnSpPr/>
          <p:nvPr/>
        </p:nvCxnSpPr>
        <p:spPr>
          <a:xfrm>
            <a:off x="3962400" y="3505200"/>
            <a:ext cx="4572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7" name="res-mid">
            <a:extLst>
              <a:ext uri="{FF2B5EF4-FFF2-40B4-BE49-F238E27FC236}">
                <a16:creationId xmlns:a16="http://schemas.microsoft.com/office/drawing/2014/main" id="{ABCD1B81-E1FF-4EBB-97F2-259018EC9FA4}"/>
              </a:ext>
            </a:extLst>
          </p:cNvPr>
          <p:cNvSpPr>
            <a:spLocks noGrp="1"/>
          </p:cNvSpPr>
          <p:nvPr/>
        </p:nvSpPr>
        <p:spPr>
          <a:xfrm>
            <a:off x="4419600" y="1809750"/>
            <a:ext cx="3333750" cy="34290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8" name="res-mid-h">
            <a:extLst>
              <a:ext uri="{FF2B5EF4-FFF2-40B4-BE49-F238E27FC236}">
                <a16:creationId xmlns:a16="http://schemas.microsoft.com/office/drawing/2014/main" id="{01E81A5C-2812-4475-8FAB-148C5BEB729D}"/>
              </a:ext>
            </a:extLst>
          </p:cNvPr>
          <p:cNvSpPr>
            <a:spLocks noGrp="1"/>
          </p:cNvSpPr>
          <p:nvPr/>
        </p:nvSpPr>
        <p:spPr>
          <a:xfrm>
            <a:off x="4705350" y="2114550"/>
            <a:ext cx="2762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核心能力继续可用</a:t>
            </a:r>
          </a:p>
        </p:txBody>
      </p:sp>
      <p:sp>
        <p:nvSpPr>
          <p:cNvPr id="9" name="res-mid-b">
            <a:extLst>
              <a:ext uri="{FF2B5EF4-FFF2-40B4-BE49-F238E27FC236}">
                <a16:creationId xmlns:a16="http://schemas.microsoft.com/office/drawing/2014/main" id="{D69231B3-131B-4985-9207-B26D03C559D7}"/>
              </a:ext>
            </a:extLst>
          </p:cNvPr>
          <p:cNvSpPr>
            <a:spLocks noGrp="1"/>
          </p:cNvSpPr>
          <p:nvPr/>
        </p:nvSpPr>
        <p:spPr>
          <a:xfrm>
            <a:off x="4705350" y="3067050"/>
            <a:ext cx="276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网站仍可登录与浏览</a:t>
            </a:r>
          </a:p>
          <a:p>
            <a:pPr algn="l">
              <a:lnSpc>
                <a:spcPct val="105000"/>
              </a:lnSpc>
              <a:buNone/>
              <a:defRPr sz="18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已建索引仍可搜索</a:t>
            </a:r>
          </a:p>
          <a:p>
            <a:pPr algn="l">
              <a:lnSpc>
                <a:spcPct val="105000"/>
              </a:lnSpc>
              <a:buNone/>
              <a:defRPr sz="18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主数据不受影响</a:t>
            </a:r>
          </a:p>
        </p:txBody>
      </p:sp>
      <p:cxnSp>
        <p:nvCxnSpPr>
          <p:cNvPr id="24" name="res-flow-2"/>
          <p:cNvCxnSpPr/>
          <p:nvPr/>
        </p:nvCxnSpPr>
        <p:spPr>
          <a:xfrm>
            <a:off x="7753350" y="3505200"/>
            <a:ext cx="45720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1" name="res-right">
            <a:extLst>
              <a:ext uri="{FF2B5EF4-FFF2-40B4-BE49-F238E27FC236}">
                <a16:creationId xmlns:a16="http://schemas.microsoft.com/office/drawing/2014/main" id="{4CE3137C-268C-4822-8E7E-B03A68F9DBBA}"/>
              </a:ext>
            </a:extLst>
          </p:cNvPr>
          <p:cNvSpPr>
            <a:spLocks noGrp="1"/>
          </p:cNvSpPr>
          <p:nvPr/>
        </p:nvSpPr>
        <p:spPr>
          <a:xfrm>
            <a:off x="8210550" y="1809750"/>
            <a:ext cx="3581400" cy="3429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2" name="res-right-h">
            <a:extLst>
              <a:ext uri="{FF2B5EF4-FFF2-40B4-BE49-F238E27FC236}">
                <a16:creationId xmlns:a16="http://schemas.microsoft.com/office/drawing/2014/main" id="{77759DF8-0EC5-4999-A436-09C8BEE2E120}"/>
              </a:ext>
            </a:extLst>
          </p:cNvPr>
          <p:cNvSpPr>
            <a:spLocks noGrp="1"/>
          </p:cNvSpPr>
          <p:nvPr/>
        </p:nvSpPr>
        <p:spPr>
          <a:xfrm>
            <a:off x="8496300" y="2114550"/>
            <a:ext cx="3009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管理员独立止损</a:t>
            </a:r>
          </a:p>
        </p:txBody>
      </p:sp>
      <p:sp>
        <p:nvSpPr>
          <p:cNvPr id="13" name="res-right-b">
            <a:extLst>
              <a:ext uri="{FF2B5EF4-FFF2-40B4-BE49-F238E27FC236}">
                <a16:creationId xmlns:a16="http://schemas.microsoft.com/office/drawing/2014/main" id="{C9FE46C9-E556-46C8-86ED-1697AD3F68AD}"/>
              </a:ext>
            </a:extLst>
          </p:cNvPr>
          <p:cNvSpPr>
            <a:spLocks noGrp="1"/>
          </p:cNvSpPr>
          <p:nvPr/>
        </p:nvSpPr>
        <p:spPr>
          <a:xfrm>
            <a:off x="8496300" y="3009900"/>
            <a:ext cx="28575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按模块关闭上传、摘要与检索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关闭问答、Skill 下载或 GitHub 同步</a:t>
            </a:r>
          </a:p>
          <a:p>
            <a:pPr algn="l">
              <a:lnSpc>
                <a:spcPct val="105000"/>
              </a:lnSpc>
              <a:buNone/>
              <a:def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无需停整站</a:t>
            </a:r>
          </a:p>
        </p:txBody>
      </p:sp>
      <p:sp>
        <p:nvSpPr>
          <p:cNvPr id="14" name="res-risk">
            <a:extLst>
              <a:ext uri="{FF2B5EF4-FFF2-40B4-BE49-F238E27FC236}">
                <a16:creationId xmlns:a16="http://schemas.microsoft.com/office/drawing/2014/main" id="{60A4EE92-71AC-4126-B93D-FCC38481DA3F}"/>
              </a:ext>
            </a:extLst>
          </p:cNvPr>
          <p:cNvSpPr>
            <a:spLocks noGrp="1"/>
          </p:cNvSpPr>
          <p:nvPr/>
        </p:nvSpPr>
        <p:spPr>
          <a:xfrm>
            <a:off x="400050" y="5705475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风险控制来自：服务解耦 + 队列缓冲 + 模块开关 + 操作日志。</a:t>
            </a:r>
          </a:p>
        </p:txBody>
      </p:sp>
      <p:cxnSp>
        <p:nvCxnSpPr>
          <p:cNvPr id="6" name="accent-18">
            <a:extLst>
              <a:ext uri="{FF2B5EF4-FFF2-40B4-BE49-F238E27FC236}">
                <a16:creationId xmlns:a16="http://schemas.microsoft.com/office/drawing/2014/main" id="{D691F0A8-3BB8-3D14-C2C6-0AF389E31B1A}"/>
              </a:ext>
            </a:extLst>
          </p:cNvPr>
          <p:cNvCxnSpPr>
            <a:cxnSpLocks/>
          </p:cNvCxnSpPr>
          <p:nvPr/>
        </p:nvCxnSpPr>
        <p:spPr>
          <a:xfrm>
            <a:off x="400050" y="304800"/>
            <a:ext cx="885411" cy="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785295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6">
            <a:extLst>
              <a:ext uri="{FF2B5EF4-FFF2-40B4-BE49-F238E27FC236}">
                <a16:creationId xmlns:a16="http://schemas.microsoft.com/office/drawing/2014/main" id="{82262236-E20C-4399-B44E-E2FE7500AA21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第一版以内部网站呈现，用户无需直接操作底层系统</a:t>
            </a:r>
          </a:p>
        </p:txBody>
      </p:sp>
      <p:sp>
        <p:nvSpPr>
          <p:cNvPr id="3" name="product-index-0">
            <a:extLst>
              <a:ext uri="{FF2B5EF4-FFF2-40B4-BE49-F238E27FC236}">
                <a16:creationId xmlns:a16="http://schemas.microsoft.com/office/drawing/2014/main" id="{5CF2D972-4BE4-4406-B1A9-D1D800B471E4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product-h-0">
            <a:extLst>
              <a:ext uri="{FF2B5EF4-FFF2-40B4-BE49-F238E27FC236}">
                <a16:creationId xmlns:a16="http://schemas.microsoft.com/office/drawing/2014/main" id="{27399BC3-5729-43F2-8C15-476C95AA3CD4}"/>
              </a:ext>
            </a:extLst>
          </p:cNvPr>
          <p:cNvSpPr>
            <a:spLocks noGrp="1"/>
          </p:cNvSpPr>
          <p:nvPr/>
        </p:nvSpPr>
        <p:spPr>
          <a:xfrm>
            <a:off x="400050" y="2514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首页</a:t>
            </a:r>
          </a:p>
        </p:txBody>
      </p:sp>
      <p:sp>
        <p:nvSpPr>
          <p:cNvPr id="5" name="product-b-0">
            <a:extLst>
              <a:ext uri="{FF2B5EF4-FFF2-40B4-BE49-F238E27FC236}">
                <a16:creationId xmlns:a16="http://schemas.microsoft.com/office/drawing/2014/main" id="{DD7F0E26-EC7E-4ED6-8A6E-131C15C95DFE}"/>
              </a:ext>
            </a:extLst>
          </p:cNvPr>
          <p:cNvSpPr>
            <a:spLocks noGrp="1"/>
          </p:cNvSpPr>
          <p:nvPr/>
        </p:nvSpPr>
        <p:spPr>
          <a:xfrm>
            <a:off x="400050" y="300990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自然语言检索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Agent 入口</a:t>
            </a:r>
          </a:p>
        </p:txBody>
      </p:sp>
      <p:sp>
        <p:nvSpPr>
          <p:cNvPr id="6" name="product-index-1">
            <a:extLst>
              <a:ext uri="{FF2B5EF4-FFF2-40B4-BE49-F238E27FC236}">
                <a16:creationId xmlns:a16="http://schemas.microsoft.com/office/drawing/2014/main" id="{931B216E-1B92-4271-815A-5A35E9063DAE}"/>
              </a:ext>
            </a:extLst>
          </p:cNvPr>
          <p:cNvSpPr>
            <a:spLocks noGrp="1"/>
          </p:cNvSpPr>
          <p:nvPr/>
        </p:nvSpPr>
        <p:spPr>
          <a:xfrm>
            <a:off x="3248025" y="20383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product-h-1">
            <a:extLst>
              <a:ext uri="{FF2B5EF4-FFF2-40B4-BE49-F238E27FC236}">
                <a16:creationId xmlns:a16="http://schemas.microsoft.com/office/drawing/2014/main" id="{2B6E0449-5742-4B16-95C8-99AA6BF1A959}"/>
              </a:ext>
            </a:extLst>
          </p:cNvPr>
          <p:cNvSpPr>
            <a:spLocks noGrp="1"/>
          </p:cNvSpPr>
          <p:nvPr/>
        </p:nvSpPr>
        <p:spPr>
          <a:xfrm>
            <a:off x="3248025" y="2514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文献</a:t>
            </a:r>
          </a:p>
        </p:txBody>
      </p:sp>
      <p:sp>
        <p:nvSpPr>
          <p:cNvPr id="8" name="product-b-1">
            <a:extLst>
              <a:ext uri="{FF2B5EF4-FFF2-40B4-BE49-F238E27FC236}">
                <a16:creationId xmlns:a16="http://schemas.microsoft.com/office/drawing/2014/main" id="{AEFC7451-F65F-4252-80B9-A1CFFBE88B16}"/>
              </a:ext>
            </a:extLst>
          </p:cNvPr>
          <p:cNvSpPr>
            <a:spLocks noGrp="1"/>
          </p:cNvSpPr>
          <p:nvPr/>
        </p:nvSpPr>
        <p:spPr>
          <a:xfrm>
            <a:off x="3248025" y="300990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上传 · 审核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搜索 · 详情</a:t>
            </a:r>
          </a:p>
        </p:txBody>
      </p:sp>
      <p:sp>
        <p:nvSpPr>
          <p:cNvPr id="9" name="product-index-2">
            <a:extLst>
              <a:ext uri="{FF2B5EF4-FFF2-40B4-BE49-F238E27FC236}">
                <a16:creationId xmlns:a16="http://schemas.microsoft.com/office/drawing/2014/main" id="{B5958EA5-DA37-4734-8BE9-FB1B98C34A96}"/>
              </a:ext>
            </a:extLst>
          </p:cNvPr>
          <p:cNvSpPr>
            <a:spLocks noGrp="1"/>
          </p:cNvSpPr>
          <p:nvPr/>
        </p:nvSpPr>
        <p:spPr>
          <a:xfrm>
            <a:off x="6096000" y="20383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product-h-2">
            <a:extLst>
              <a:ext uri="{FF2B5EF4-FFF2-40B4-BE49-F238E27FC236}">
                <a16:creationId xmlns:a16="http://schemas.microsoft.com/office/drawing/2014/main" id="{26D270E4-53F1-4FBD-AA61-C667A4D353D6}"/>
              </a:ext>
            </a:extLst>
          </p:cNvPr>
          <p:cNvSpPr>
            <a:spLocks noGrp="1"/>
          </p:cNvSpPr>
          <p:nvPr/>
        </p:nvSpPr>
        <p:spPr>
          <a:xfrm>
            <a:off x="6096000" y="2514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推导与笔记</a:t>
            </a:r>
          </a:p>
        </p:txBody>
      </p:sp>
      <p:sp>
        <p:nvSpPr>
          <p:cNvPr id="11" name="product-b-2">
            <a:extLst>
              <a:ext uri="{FF2B5EF4-FFF2-40B4-BE49-F238E27FC236}">
                <a16:creationId xmlns:a16="http://schemas.microsoft.com/office/drawing/2014/main" id="{238683E3-1F80-475C-919C-700AACE14232}"/>
              </a:ext>
            </a:extLst>
          </p:cNvPr>
          <p:cNvSpPr>
            <a:spLocks noGrp="1"/>
          </p:cNvSpPr>
          <p:nvPr/>
        </p:nvSpPr>
        <p:spPr>
          <a:xfrm>
            <a:off x="6096000" y="300990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上传 · 编辑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搜索 · 版本</a:t>
            </a:r>
          </a:p>
        </p:txBody>
      </p:sp>
      <p:sp>
        <p:nvSpPr>
          <p:cNvPr id="12" name="product-index-3">
            <a:extLst>
              <a:ext uri="{FF2B5EF4-FFF2-40B4-BE49-F238E27FC236}">
                <a16:creationId xmlns:a16="http://schemas.microsoft.com/office/drawing/2014/main" id="{9F56B028-8893-4764-A94D-AC2A916B2156}"/>
              </a:ext>
            </a:extLst>
          </p:cNvPr>
          <p:cNvSpPr>
            <a:spLocks noGrp="1"/>
          </p:cNvSpPr>
          <p:nvPr/>
        </p:nvSpPr>
        <p:spPr>
          <a:xfrm>
            <a:off x="8943975" y="2038350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product-h-3">
            <a:extLst>
              <a:ext uri="{FF2B5EF4-FFF2-40B4-BE49-F238E27FC236}">
                <a16:creationId xmlns:a16="http://schemas.microsoft.com/office/drawing/2014/main" id="{82C8E02B-BC18-4B6C-ADB7-6A9D843FC3D0}"/>
              </a:ext>
            </a:extLst>
          </p:cNvPr>
          <p:cNvSpPr>
            <a:spLocks noGrp="1"/>
          </p:cNvSpPr>
          <p:nvPr/>
        </p:nvSpPr>
        <p:spPr>
          <a:xfrm>
            <a:off x="8943975" y="25146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4" name="product-b-3">
            <a:extLst>
              <a:ext uri="{FF2B5EF4-FFF2-40B4-BE49-F238E27FC236}">
                <a16:creationId xmlns:a16="http://schemas.microsoft.com/office/drawing/2014/main" id="{4BCCD7F9-E18F-4905-AE29-57E7B7704914}"/>
              </a:ext>
            </a:extLst>
          </p:cNvPr>
          <p:cNvSpPr>
            <a:spLocks noGrp="1"/>
          </p:cNvSpPr>
          <p:nvPr/>
        </p:nvSpPr>
        <p:spPr>
          <a:xfrm>
            <a:off x="8943975" y="3009900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上传 · 搜索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下载 · 版本</a:t>
            </a:r>
          </a:p>
        </p:txBody>
      </p:sp>
      <p:sp>
        <p:nvSpPr>
          <p:cNvPr id="15" name="product-index-4">
            <a:extLst>
              <a:ext uri="{FF2B5EF4-FFF2-40B4-BE49-F238E27FC236}">
                <a16:creationId xmlns:a16="http://schemas.microsoft.com/office/drawing/2014/main" id="{0892738E-405C-49FD-8DA7-C401B52281A7}"/>
              </a:ext>
            </a:extLst>
          </p:cNvPr>
          <p:cNvSpPr>
            <a:spLocks noGrp="1"/>
          </p:cNvSpPr>
          <p:nvPr/>
        </p:nvSpPr>
        <p:spPr>
          <a:xfrm>
            <a:off x="400050" y="404812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product-h-4">
            <a:extLst>
              <a:ext uri="{FF2B5EF4-FFF2-40B4-BE49-F238E27FC236}">
                <a16:creationId xmlns:a16="http://schemas.microsoft.com/office/drawing/2014/main" id="{B29C2AF9-65A2-418D-B9C3-0855EA7176FB}"/>
              </a:ext>
            </a:extLst>
          </p:cNvPr>
          <p:cNvSpPr>
            <a:spLocks noGrp="1"/>
          </p:cNvSpPr>
          <p:nvPr/>
        </p:nvSpPr>
        <p:spPr>
          <a:xfrm>
            <a:off x="400050" y="45243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Skill</a:t>
            </a:r>
          </a:p>
        </p:txBody>
      </p:sp>
      <p:sp>
        <p:nvSpPr>
          <p:cNvPr id="17" name="product-b-4">
            <a:extLst>
              <a:ext uri="{FF2B5EF4-FFF2-40B4-BE49-F238E27FC236}">
                <a16:creationId xmlns:a16="http://schemas.microsoft.com/office/drawing/2014/main" id="{E56FF8AE-6035-4D96-853E-A1F6F02D456E}"/>
              </a:ext>
            </a:extLst>
          </p:cNvPr>
          <p:cNvSpPr>
            <a:spLocks noGrp="1"/>
          </p:cNvSpPr>
          <p:nvPr/>
        </p:nvSpPr>
        <p:spPr>
          <a:xfrm>
            <a:off x="400050" y="5019675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浏览 · 上传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审核 · 下载</a:t>
            </a:r>
          </a:p>
        </p:txBody>
      </p:sp>
      <p:sp>
        <p:nvSpPr>
          <p:cNvPr id="18" name="product-index-5">
            <a:extLst>
              <a:ext uri="{FF2B5EF4-FFF2-40B4-BE49-F238E27FC236}">
                <a16:creationId xmlns:a16="http://schemas.microsoft.com/office/drawing/2014/main" id="{0130D9F5-0F0A-43E7-B18B-35C57C593BE5}"/>
              </a:ext>
            </a:extLst>
          </p:cNvPr>
          <p:cNvSpPr>
            <a:spLocks noGrp="1"/>
          </p:cNvSpPr>
          <p:nvPr/>
        </p:nvSpPr>
        <p:spPr>
          <a:xfrm>
            <a:off x="3248025" y="404812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product-h-5">
            <a:extLst>
              <a:ext uri="{FF2B5EF4-FFF2-40B4-BE49-F238E27FC236}">
                <a16:creationId xmlns:a16="http://schemas.microsoft.com/office/drawing/2014/main" id="{2194EF09-E790-43AA-99F1-2C5C6FC4B03E}"/>
              </a:ext>
            </a:extLst>
          </p:cNvPr>
          <p:cNvSpPr>
            <a:spLocks noGrp="1"/>
          </p:cNvSpPr>
          <p:nvPr/>
        </p:nvSpPr>
        <p:spPr>
          <a:xfrm>
            <a:off x="3248025" y="45243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个人中心</a:t>
            </a:r>
          </a:p>
        </p:txBody>
      </p:sp>
      <p:sp>
        <p:nvSpPr>
          <p:cNvPr id="20" name="product-b-5">
            <a:extLst>
              <a:ext uri="{FF2B5EF4-FFF2-40B4-BE49-F238E27FC236}">
                <a16:creationId xmlns:a16="http://schemas.microsoft.com/office/drawing/2014/main" id="{25B91FB1-0EBB-422D-9A71-7E7C1BF642F8}"/>
              </a:ext>
            </a:extLst>
          </p:cNvPr>
          <p:cNvSpPr>
            <a:spLocks noGrp="1"/>
          </p:cNvSpPr>
          <p:nvPr/>
        </p:nvSpPr>
        <p:spPr>
          <a:xfrm>
            <a:off x="3248025" y="5019675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草稿 · 任务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通知 · 历史</a:t>
            </a:r>
          </a:p>
        </p:txBody>
      </p:sp>
      <p:sp>
        <p:nvSpPr>
          <p:cNvPr id="21" name="product-index-6">
            <a:extLst>
              <a:ext uri="{FF2B5EF4-FFF2-40B4-BE49-F238E27FC236}">
                <a16:creationId xmlns:a16="http://schemas.microsoft.com/office/drawing/2014/main" id="{28171ED2-3EA6-4240-B87E-776D4BF5B45B}"/>
              </a:ext>
            </a:extLst>
          </p:cNvPr>
          <p:cNvSpPr>
            <a:spLocks noGrp="1"/>
          </p:cNvSpPr>
          <p:nvPr/>
        </p:nvSpPr>
        <p:spPr>
          <a:xfrm>
            <a:off x="6096000" y="404812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2" name="product-h-6">
            <a:extLst>
              <a:ext uri="{FF2B5EF4-FFF2-40B4-BE49-F238E27FC236}">
                <a16:creationId xmlns:a16="http://schemas.microsoft.com/office/drawing/2014/main" id="{AA759809-EA5A-488E-B13C-4D35B0044C44}"/>
              </a:ext>
            </a:extLst>
          </p:cNvPr>
          <p:cNvSpPr>
            <a:spLocks noGrp="1"/>
          </p:cNvSpPr>
          <p:nvPr/>
        </p:nvSpPr>
        <p:spPr>
          <a:xfrm>
            <a:off x="6096000" y="45243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管理后台</a:t>
            </a:r>
          </a:p>
        </p:txBody>
      </p:sp>
      <p:sp>
        <p:nvSpPr>
          <p:cNvPr id="23" name="product-b-6">
            <a:extLst>
              <a:ext uri="{FF2B5EF4-FFF2-40B4-BE49-F238E27FC236}">
                <a16:creationId xmlns:a16="http://schemas.microsoft.com/office/drawing/2014/main" id="{44921DE0-22D9-4CF3-BD60-ADB52D33980C}"/>
              </a:ext>
            </a:extLst>
          </p:cNvPr>
          <p:cNvSpPr>
            <a:spLocks noGrp="1"/>
          </p:cNvSpPr>
          <p:nvPr/>
        </p:nvSpPr>
        <p:spPr>
          <a:xfrm>
            <a:off x="6096000" y="5019675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用户 · 内容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任务 · 日志</a:t>
            </a:r>
          </a:p>
        </p:txBody>
      </p:sp>
      <p:sp>
        <p:nvSpPr>
          <p:cNvPr id="24" name="product-index-7">
            <a:extLst>
              <a:ext uri="{FF2B5EF4-FFF2-40B4-BE49-F238E27FC236}">
                <a16:creationId xmlns:a16="http://schemas.microsoft.com/office/drawing/2014/main" id="{08132918-43C4-4F0C-ABE4-05DFFE79C22F}"/>
              </a:ext>
            </a:extLst>
          </p:cNvPr>
          <p:cNvSpPr>
            <a:spLocks noGrp="1"/>
          </p:cNvSpPr>
          <p:nvPr/>
        </p:nvSpPr>
        <p:spPr>
          <a:xfrm>
            <a:off x="8943975" y="4048125"/>
            <a:ext cx="495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25" name="product-h-7">
            <a:extLst>
              <a:ext uri="{FF2B5EF4-FFF2-40B4-BE49-F238E27FC236}">
                <a16:creationId xmlns:a16="http://schemas.microsoft.com/office/drawing/2014/main" id="{F376E7A3-564A-4683-85DD-5B621A06933E}"/>
              </a:ext>
            </a:extLst>
          </p:cNvPr>
          <p:cNvSpPr>
            <a:spLocks noGrp="1"/>
          </p:cNvSpPr>
          <p:nvPr/>
        </p:nvSpPr>
        <p:spPr>
          <a:xfrm>
            <a:off x="8943975" y="45243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模块控制</a:t>
            </a:r>
          </a:p>
        </p:txBody>
      </p:sp>
      <p:sp>
        <p:nvSpPr>
          <p:cNvPr id="26" name="product-b-7">
            <a:extLst>
              <a:ext uri="{FF2B5EF4-FFF2-40B4-BE49-F238E27FC236}">
                <a16:creationId xmlns:a16="http://schemas.microsoft.com/office/drawing/2014/main" id="{EF6CCB84-EC35-42DF-990E-417FBF67FBAE}"/>
              </a:ext>
            </a:extLst>
          </p:cNvPr>
          <p:cNvSpPr>
            <a:spLocks noGrp="1"/>
          </p:cNvSpPr>
          <p:nvPr/>
        </p:nvSpPr>
        <p:spPr>
          <a:xfrm>
            <a:off x="8943975" y="5019675"/>
            <a:ext cx="2381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开关 · 状态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失败任务 · 反馈</a:t>
            </a:r>
          </a:p>
        </p:txBody>
      </p:sp>
      <p:cxnSp>
        <p:nvCxnSpPr>
          <p:cNvPr id="28" name="accent-18">
            <a:extLst>
              <a:ext uri="{FF2B5EF4-FFF2-40B4-BE49-F238E27FC236}">
                <a16:creationId xmlns:a16="http://schemas.microsoft.com/office/drawing/2014/main" id="{1A7649AF-3AC7-3CA1-2F17-F4F8BC7A0FC3}"/>
              </a:ext>
            </a:extLst>
          </p:cNvPr>
          <p:cNvCxnSpPr>
            <a:cxnSpLocks/>
          </p:cNvCxnSpPr>
          <p:nvPr/>
        </p:nvCxnSpPr>
        <p:spPr>
          <a:xfrm>
            <a:off x="400050" y="304800"/>
            <a:ext cx="885411" cy="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3848082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-17">
            <a:extLst>
              <a:ext uri="{FF2B5EF4-FFF2-40B4-BE49-F238E27FC236}">
                <a16:creationId xmlns:a16="http://schemas.microsoft.com/office/drawing/2014/main" id="{64215DFE-B5E3-45E9-8CA8-5FFBE764E894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四个阶段从文献闭环逐步走向可复现科研工作流</a:t>
            </a:r>
          </a:p>
        </p:txBody>
      </p:sp>
      <p:cxnSp>
        <p:nvCxnSpPr>
          <p:cNvPr id="27" name="roadmap-axis"/>
          <p:cNvCxnSpPr/>
          <p:nvPr/>
        </p:nvCxnSpPr>
        <p:spPr>
          <a:xfrm>
            <a:off x="400050" y="5238750"/>
            <a:ext cx="11391900" cy="9525"/>
          </a:xfrm>
          <a:prstGeom prst="straightConnector1">
            <a:avLst/>
          </a:prstGeom>
          <a:ln w="9525">
            <a:solidFill>
              <a:srgbClr val="0A0A0A"/>
            </a:solidFill>
            <a:prstDash val="solid"/>
          </a:ln>
        </p:spPr>
      </p:cxnSp>
      <p:sp>
        <p:nvSpPr>
          <p:cNvPr id="4" name="roadmap-card-0">
            <a:extLst>
              <a:ext uri="{FF2B5EF4-FFF2-40B4-BE49-F238E27FC236}">
                <a16:creationId xmlns:a16="http://schemas.microsoft.com/office/drawing/2014/main" id="{7C854DDF-146C-4004-A8F2-483B521AF10F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2590800" cy="29527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5" name="roadmap-phase-0">
            <a:extLst>
              <a:ext uri="{FF2B5EF4-FFF2-40B4-BE49-F238E27FC236}">
                <a16:creationId xmlns:a16="http://schemas.microsoft.com/office/drawing/2014/main" id="{95F1DE1C-2DAB-495D-AD27-2DBAD59B4B08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6" name="roadmap-h-0">
            <a:extLst>
              <a:ext uri="{FF2B5EF4-FFF2-40B4-BE49-F238E27FC236}">
                <a16:creationId xmlns:a16="http://schemas.microsoft.com/office/drawing/2014/main" id="{CC375237-7C95-49BF-B21A-09E18EA1F167}"/>
              </a:ext>
            </a:extLst>
          </p:cNvPr>
          <p:cNvSpPr>
            <a:spLocks noGrp="1"/>
          </p:cNvSpPr>
          <p:nvPr/>
        </p:nvSpPr>
        <p:spPr>
          <a:xfrm>
            <a:off x="609600" y="2638425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文献知识库</a:t>
            </a:r>
          </a:p>
        </p:txBody>
      </p:sp>
      <p:sp>
        <p:nvSpPr>
          <p:cNvPr id="7" name="roadmap-b-0">
            <a:extLst>
              <a:ext uri="{FF2B5EF4-FFF2-40B4-BE49-F238E27FC236}">
                <a16:creationId xmlns:a16="http://schemas.microsoft.com/office/drawing/2014/main" id="{A720C79A-6EEC-4D7C-A923-FC93584FE174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21717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上传、AI 总结与审核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自然语言检索、文献问答</a:t>
            </a:r>
          </a:p>
        </p:txBody>
      </p:sp>
      <p:sp>
        <p:nvSpPr>
          <p:cNvPr id="8" name="roadmap-dot-0">
            <a:extLst>
              <a:ext uri="{FF2B5EF4-FFF2-40B4-BE49-F238E27FC236}">
                <a16:creationId xmlns:a16="http://schemas.microsoft.com/office/drawing/2014/main" id="{3C81D83D-2292-4C56-8534-152CDA1A9511}"/>
              </a:ext>
            </a:extLst>
          </p:cNvPr>
          <p:cNvSpPr>
            <a:spLocks noGrp="1"/>
          </p:cNvSpPr>
          <p:nvPr/>
        </p:nvSpPr>
        <p:spPr>
          <a:xfrm>
            <a:off x="400050" y="51816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9" name="roadmap-card-1">
            <a:extLst>
              <a:ext uri="{FF2B5EF4-FFF2-40B4-BE49-F238E27FC236}">
                <a16:creationId xmlns:a16="http://schemas.microsoft.com/office/drawing/2014/main" id="{4602F48D-A9D5-45BD-A5AB-9330E9F95E9E}"/>
              </a:ext>
            </a:extLst>
          </p:cNvPr>
          <p:cNvSpPr>
            <a:spLocks noGrp="1"/>
          </p:cNvSpPr>
          <p:nvPr/>
        </p:nvSpPr>
        <p:spPr>
          <a:xfrm>
            <a:off x="3248025" y="1809750"/>
            <a:ext cx="259080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roadmap-phase-1">
            <a:extLst>
              <a:ext uri="{FF2B5EF4-FFF2-40B4-BE49-F238E27FC236}">
                <a16:creationId xmlns:a16="http://schemas.microsoft.com/office/drawing/2014/main" id="{24B677C1-9114-4071-B737-1D8B1865412B}"/>
              </a:ext>
            </a:extLst>
          </p:cNvPr>
          <p:cNvSpPr>
            <a:spLocks noGrp="1"/>
          </p:cNvSpPr>
          <p:nvPr/>
        </p:nvSpPr>
        <p:spPr>
          <a:xfrm>
            <a:off x="3457575" y="20478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11" name="roadmap-h-1">
            <a:extLst>
              <a:ext uri="{FF2B5EF4-FFF2-40B4-BE49-F238E27FC236}">
                <a16:creationId xmlns:a16="http://schemas.microsoft.com/office/drawing/2014/main" id="{A89006AA-1EB7-418D-A666-4767359A8306}"/>
              </a:ext>
            </a:extLst>
          </p:cNvPr>
          <p:cNvSpPr>
            <a:spLocks noGrp="1"/>
          </p:cNvSpPr>
          <p:nvPr/>
        </p:nvSpPr>
        <p:spPr>
          <a:xfrm>
            <a:off x="3457575" y="2638425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知识内容扩展</a:t>
            </a:r>
          </a:p>
        </p:txBody>
      </p:sp>
      <p:sp>
        <p:nvSpPr>
          <p:cNvPr id="12" name="roadmap-b-1">
            <a:extLst>
              <a:ext uri="{FF2B5EF4-FFF2-40B4-BE49-F238E27FC236}">
                <a16:creationId xmlns:a16="http://schemas.microsoft.com/office/drawing/2014/main" id="{AFCA3733-0819-4EAA-8571-D1B5997A82C0}"/>
              </a:ext>
            </a:extLst>
          </p:cNvPr>
          <p:cNvSpPr>
            <a:spLocks noGrp="1"/>
          </p:cNvSpPr>
          <p:nvPr/>
        </p:nvSpPr>
        <p:spPr>
          <a:xfrm>
            <a:off x="3457575" y="3571875"/>
            <a:ext cx="21717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公式推导、研究笔记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Python 与 MATLAB 代码</a:t>
            </a:r>
          </a:p>
        </p:txBody>
      </p:sp>
      <p:sp>
        <p:nvSpPr>
          <p:cNvPr id="13" name="roadmap-dot-1">
            <a:extLst>
              <a:ext uri="{FF2B5EF4-FFF2-40B4-BE49-F238E27FC236}">
                <a16:creationId xmlns:a16="http://schemas.microsoft.com/office/drawing/2014/main" id="{BD37013B-F775-4499-A49E-DDD383CF750C}"/>
              </a:ext>
            </a:extLst>
          </p:cNvPr>
          <p:cNvSpPr>
            <a:spLocks noGrp="1"/>
          </p:cNvSpPr>
          <p:nvPr/>
        </p:nvSpPr>
        <p:spPr>
          <a:xfrm>
            <a:off x="3248025" y="51816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4" name="roadmap-card-2">
            <a:extLst>
              <a:ext uri="{FF2B5EF4-FFF2-40B4-BE49-F238E27FC236}">
                <a16:creationId xmlns:a16="http://schemas.microsoft.com/office/drawing/2014/main" id="{4F41B865-84DA-456F-BB90-A3C183F348E1}"/>
              </a:ext>
            </a:extLst>
          </p:cNvPr>
          <p:cNvSpPr>
            <a:spLocks noGrp="1"/>
          </p:cNvSpPr>
          <p:nvPr/>
        </p:nvSpPr>
        <p:spPr>
          <a:xfrm>
            <a:off x="6096000" y="1809750"/>
            <a:ext cx="259080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roadmap-phase-2">
            <a:extLst>
              <a:ext uri="{FF2B5EF4-FFF2-40B4-BE49-F238E27FC236}">
                <a16:creationId xmlns:a16="http://schemas.microsoft.com/office/drawing/2014/main" id="{12A7C1A2-B20B-4BCA-B866-9353249EEB51}"/>
              </a:ext>
            </a:extLst>
          </p:cNvPr>
          <p:cNvSpPr>
            <a:spLocks noGrp="1"/>
          </p:cNvSpPr>
          <p:nvPr/>
        </p:nvSpPr>
        <p:spPr>
          <a:xfrm>
            <a:off x="6305550" y="20478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16" name="roadmap-h-2">
            <a:extLst>
              <a:ext uri="{FF2B5EF4-FFF2-40B4-BE49-F238E27FC236}">
                <a16:creationId xmlns:a16="http://schemas.microsoft.com/office/drawing/2014/main" id="{416153CD-068D-47F5-90C0-B8A1190704BC}"/>
              </a:ext>
            </a:extLst>
          </p:cNvPr>
          <p:cNvSpPr>
            <a:spLocks noGrp="1"/>
          </p:cNvSpPr>
          <p:nvPr/>
        </p:nvSpPr>
        <p:spPr>
          <a:xfrm>
            <a:off x="6305550" y="2638425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Skill 平台</a:t>
            </a:r>
          </a:p>
        </p:txBody>
      </p:sp>
      <p:sp>
        <p:nvSpPr>
          <p:cNvPr id="17" name="roadmap-b-2">
            <a:extLst>
              <a:ext uri="{FF2B5EF4-FFF2-40B4-BE49-F238E27FC236}">
                <a16:creationId xmlns:a16="http://schemas.microsoft.com/office/drawing/2014/main" id="{FA57A8A0-156F-4BD2-9960-8B5B8A689312}"/>
              </a:ext>
            </a:extLst>
          </p:cNvPr>
          <p:cNvSpPr>
            <a:spLocks noGrp="1"/>
          </p:cNvSpPr>
          <p:nvPr/>
        </p:nvSpPr>
        <p:spPr>
          <a:xfrm>
            <a:off x="6305550" y="3571875"/>
            <a:ext cx="21717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创建、共享审核、版本发布、下载与反馈</a:t>
            </a:r>
          </a:p>
        </p:txBody>
      </p:sp>
      <p:sp>
        <p:nvSpPr>
          <p:cNvPr id="18" name="roadmap-dot-2">
            <a:extLst>
              <a:ext uri="{FF2B5EF4-FFF2-40B4-BE49-F238E27FC236}">
                <a16:creationId xmlns:a16="http://schemas.microsoft.com/office/drawing/2014/main" id="{79A177E8-B271-48D2-914E-5D57F59E8A75}"/>
              </a:ext>
            </a:extLst>
          </p:cNvPr>
          <p:cNvSpPr>
            <a:spLocks noGrp="1"/>
          </p:cNvSpPr>
          <p:nvPr/>
        </p:nvSpPr>
        <p:spPr>
          <a:xfrm>
            <a:off x="6096000" y="51816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19" name="roadmap-card-3">
            <a:extLst>
              <a:ext uri="{FF2B5EF4-FFF2-40B4-BE49-F238E27FC236}">
                <a16:creationId xmlns:a16="http://schemas.microsoft.com/office/drawing/2014/main" id="{9A49FDDF-6433-4DEE-A343-C34DDC254510}"/>
              </a:ext>
            </a:extLst>
          </p:cNvPr>
          <p:cNvSpPr>
            <a:spLocks noGrp="1"/>
          </p:cNvSpPr>
          <p:nvPr/>
        </p:nvSpPr>
        <p:spPr>
          <a:xfrm>
            <a:off x="8943975" y="1809750"/>
            <a:ext cx="259080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0" name="roadmap-phase-3">
            <a:extLst>
              <a:ext uri="{FF2B5EF4-FFF2-40B4-BE49-F238E27FC236}">
                <a16:creationId xmlns:a16="http://schemas.microsoft.com/office/drawing/2014/main" id="{D4E869D8-6384-47F7-851C-835C163195D7}"/>
              </a:ext>
            </a:extLst>
          </p:cNvPr>
          <p:cNvSpPr>
            <a:spLocks noGrp="1"/>
          </p:cNvSpPr>
          <p:nvPr/>
        </p:nvSpPr>
        <p:spPr>
          <a:xfrm>
            <a:off x="9153525" y="2047875"/>
            <a:ext cx="2171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阶段四</a:t>
            </a:r>
          </a:p>
        </p:txBody>
      </p:sp>
      <p:sp>
        <p:nvSpPr>
          <p:cNvPr id="21" name="roadmap-h-3">
            <a:extLst>
              <a:ext uri="{FF2B5EF4-FFF2-40B4-BE49-F238E27FC236}">
                <a16:creationId xmlns:a16="http://schemas.microsoft.com/office/drawing/2014/main" id="{2C849967-2B99-4274-8AA7-B7F43E284BC4}"/>
              </a:ext>
            </a:extLst>
          </p:cNvPr>
          <p:cNvSpPr>
            <a:spLocks noGrp="1"/>
          </p:cNvSpPr>
          <p:nvPr/>
        </p:nvSpPr>
        <p:spPr>
          <a:xfrm>
            <a:off x="9153525" y="2638425"/>
            <a:ext cx="21717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科研工作流</a:t>
            </a:r>
          </a:p>
        </p:txBody>
      </p:sp>
      <p:sp>
        <p:nvSpPr>
          <p:cNvPr id="22" name="roadmap-b-3">
            <a:extLst>
              <a:ext uri="{FF2B5EF4-FFF2-40B4-BE49-F238E27FC236}">
                <a16:creationId xmlns:a16="http://schemas.microsoft.com/office/drawing/2014/main" id="{BFE4B3E5-60A8-44DC-8ABD-E89435E4D876}"/>
              </a:ext>
            </a:extLst>
          </p:cNvPr>
          <p:cNvSpPr>
            <a:spLocks noGrp="1"/>
          </p:cNvSpPr>
          <p:nvPr/>
        </p:nvSpPr>
        <p:spPr>
          <a:xfrm>
            <a:off x="9153525" y="3571875"/>
            <a:ext cx="21717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Codex 只读访问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对象关联、实验数据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与可复现流程</a:t>
            </a:r>
          </a:p>
        </p:txBody>
      </p:sp>
      <p:sp>
        <p:nvSpPr>
          <p:cNvPr id="23" name="roadmap-dot-3">
            <a:extLst>
              <a:ext uri="{FF2B5EF4-FFF2-40B4-BE49-F238E27FC236}">
                <a16:creationId xmlns:a16="http://schemas.microsoft.com/office/drawing/2014/main" id="{EFE03B63-0D78-4684-B30E-67C6513763FD}"/>
              </a:ext>
            </a:extLst>
          </p:cNvPr>
          <p:cNvSpPr>
            <a:spLocks noGrp="1"/>
          </p:cNvSpPr>
          <p:nvPr/>
        </p:nvSpPr>
        <p:spPr>
          <a:xfrm>
            <a:off x="8943975" y="5181600"/>
            <a:ext cx="114300" cy="114300"/>
          </a:xfrm>
          <a:prstGeom prst="ellipse">
            <a:avLst/>
          </a:prstGeom>
          <a:solidFill>
            <a:srgbClr val="0A0A0A"/>
          </a:solidFill>
          <a:ln w="0">
            <a:noFill/>
            <a:prstDash val="solid"/>
          </a:ln>
        </p:spPr>
      </p:sp>
      <p:sp>
        <p:nvSpPr>
          <p:cNvPr id="24" name="roadmap-rule">
            <a:extLst>
              <a:ext uri="{FF2B5EF4-FFF2-40B4-BE49-F238E27FC236}">
                <a16:creationId xmlns:a16="http://schemas.microsoft.com/office/drawing/2014/main" id="{5300DA31-92D7-4AC9-B58D-275F24D073B5}"/>
              </a:ext>
            </a:extLst>
          </p:cNvPr>
          <p:cNvSpPr>
            <a:spLocks noGrp="1"/>
          </p:cNvSpPr>
          <p:nvPr/>
        </p:nvSpPr>
        <p:spPr>
          <a:xfrm>
            <a:off x="400050" y="5676900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8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每个阶段都以“可用闭环”而不是“功能数量”作为完成标准。</a:t>
            </a:r>
          </a:p>
        </p:txBody>
      </p:sp>
      <p:cxnSp>
        <p:nvCxnSpPr>
          <p:cNvPr id="26" name="accent-18">
            <a:extLst>
              <a:ext uri="{FF2B5EF4-FFF2-40B4-BE49-F238E27FC236}">
                <a16:creationId xmlns:a16="http://schemas.microsoft.com/office/drawing/2014/main" id="{200595F6-8E4E-B5B4-4A04-4F751FA105DB}"/>
              </a:ext>
            </a:extLst>
          </p:cNvPr>
          <p:cNvCxnSpPr>
            <a:cxnSpLocks/>
          </p:cNvCxnSpPr>
          <p:nvPr/>
        </p:nvCxnSpPr>
        <p:spPr>
          <a:xfrm>
            <a:off x="400050" y="304800"/>
            <a:ext cx="885411" cy="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4323216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accent-18"/>
          <p:cNvCxnSpPr>
            <a:cxnSpLocks/>
          </p:cNvCxnSpPr>
          <p:nvPr/>
        </p:nvCxnSpPr>
        <p:spPr>
          <a:xfrm>
            <a:off x="400050" y="304800"/>
            <a:ext cx="885411" cy="0"/>
          </a:xfrm>
          <a:prstGeom prst="straightConnector1">
            <a:avLst/>
          </a:prstGeom>
          <a:ln w="38100">
            <a:solidFill>
              <a:srgbClr val="3D8DFF"/>
            </a:solidFill>
            <a:prstDash val="solid"/>
          </a:ln>
        </p:spPr>
      </p:cxnSp>
      <p:sp>
        <p:nvSpPr>
          <p:cNvPr id="2" name="title-18">
            <a:extLst>
              <a:ext uri="{FF2B5EF4-FFF2-40B4-BE49-F238E27FC236}">
                <a16:creationId xmlns:a16="http://schemas.microsoft.com/office/drawing/2014/main" id="{D4034214-F8F0-4E5B-ACED-ACB21A721575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113919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第一阶段验收应证明“资料能进、知识可信、结果能找”</a:t>
            </a:r>
          </a:p>
        </p:txBody>
      </p:sp>
      <p:sp>
        <p:nvSpPr>
          <p:cNvPr id="3" name="accept-num-0">
            <a:extLst>
              <a:ext uri="{FF2B5EF4-FFF2-40B4-BE49-F238E27FC236}">
                <a16:creationId xmlns:a16="http://schemas.microsoft.com/office/drawing/2014/main" id="{F83E1C9F-EA9E-4246-9BFE-992E91134023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accept-h-0">
            <a:extLst>
              <a:ext uri="{FF2B5EF4-FFF2-40B4-BE49-F238E27FC236}">
                <a16:creationId xmlns:a16="http://schemas.microsoft.com/office/drawing/2014/main" id="{97B90F13-20C3-4268-AE6F-C67B70EFF762}"/>
              </a:ext>
            </a:extLst>
          </p:cNvPr>
          <p:cNvSpPr>
            <a:spLocks noGrp="1"/>
          </p:cNvSpPr>
          <p:nvPr/>
        </p:nvSpPr>
        <p:spPr>
          <a:xfrm>
            <a:off x="400050" y="23241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资料能进</a:t>
            </a:r>
          </a:p>
        </p:txBody>
      </p:sp>
      <p:sp>
        <p:nvSpPr>
          <p:cNvPr id="5" name="accept-b-0">
            <a:extLst>
              <a:ext uri="{FF2B5EF4-FFF2-40B4-BE49-F238E27FC236}">
                <a16:creationId xmlns:a16="http://schemas.microsoft.com/office/drawing/2014/main" id="{447238F1-94AA-4F69-AEEA-D7BA1FB6ED33}"/>
              </a:ext>
            </a:extLst>
          </p:cNvPr>
          <p:cNvSpPr>
            <a:spLocks noGrp="1"/>
          </p:cNvSpPr>
          <p:nvPr/>
        </p:nvSpPr>
        <p:spPr>
          <a:xfrm>
            <a:off x="400050" y="28003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四类对象完成基础上传；原始资料长期保留；元数据、版本和归属可追溯。</a:t>
            </a:r>
          </a:p>
        </p:txBody>
      </p:sp>
      <p:sp>
        <p:nvSpPr>
          <p:cNvPr id="6" name="accept-num-1">
            <a:extLst>
              <a:ext uri="{FF2B5EF4-FFF2-40B4-BE49-F238E27FC236}">
                <a16:creationId xmlns:a16="http://schemas.microsoft.com/office/drawing/2014/main" id="{CD5A4384-C011-47FD-89A5-C900DF1E2B40}"/>
              </a:ext>
            </a:extLst>
          </p:cNvPr>
          <p:cNvSpPr>
            <a:spLocks noGrp="1"/>
          </p:cNvSpPr>
          <p:nvPr/>
        </p:nvSpPr>
        <p:spPr>
          <a:xfrm>
            <a:off x="4305300" y="18669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accept-h-1">
            <a:extLst>
              <a:ext uri="{FF2B5EF4-FFF2-40B4-BE49-F238E27FC236}">
                <a16:creationId xmlns:a16="http://schemas.microsoft.com/office/drawing/2014/main" id="{760D2BF7-069D-4475-80A4-C2F6C412EB5E}"/>
              </a:ext>
            </a:extLst>
          </p:cNvPr>
          <p:cNvSpPr>
            <a:spLocks noGrp="1"/>
          </p:cNvSpPr>
          <p:nvPr/>
        </p:nvSpPr>
        <p:spPr>
          <a:xfrm>
            <a:off x="4305300" y="23241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知识可信</a:t>
            </a:r>
          </a:p>
        </p:txBody>
      </p:sp>
      <p:sp>
        <p:nvSpPr>
          <p:cNvPr id="8" name="accept-b-1">
            <a:extLst>
              <a:ext uri="{FF2B5EF4-FFF2-40B4-BE49-F238E27FC236}">
                <a16:creationId xmlns:a16="http://schemas.microsoft.com/office/drawing/2014/main" id="{58004BA2-7CD6-49E8-A58F-FD3BCBCAB30F}"/>
              </a:ext>
            </a:extLst>
          </p:cNvPr>
          <p:cNvSpPr>
            <a:spLocks noGrp="1"/>
          </p:cNvSpPr>
          <p:nvPr/>
        </p:nvSpPr>
        <p:spPr>
          <a:xfrm>
            <a:off x="4305300" y="28003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AI 产物进入草稿并由上传者审核</a:t>
            </a:r>
          </a:p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未发布内容不进入正式检索</a:t>
            </a:r>
          </a:p>
        </p:txBody>
      </p:sp>
      <p:sp>
        <p:nvSpPr>
          <p:cNvPr id="9" name="accept-num-2">
            <a:extLst>
              <a:ext uri="{FF2B5EF4-FFF2-40B4-BE49-F238E27FC236}">
                <a16:creationId xmlns:a16="http://schemas.microsoft.com/office/drawing/2014/main" id="{53A17D99-0936-4798-92F2-9EEDD4853E3D}"/>
              </a:ext>
            </a:extLst>
          </p:cNvPr>
          <p:cNvSpPr>
            <a:spLocks noGrp="1"/>
          </p:cNvSpPr>
          <p:nvPr/>
        </p:nvSpPr>
        <p:spPr>
          <a:xfrm>
            <a:off x="8220075" y="18669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accept-h-2">
            <a:extLst>
              <a:ext uri="{FF2B5EF4-FFF2-40B4-BE49-F238E27FC236}">
                <a16:creationId xmlns:a16="http://schemas.microsoft.com/office/drawing/2014/main" id="{514F2B5D-DEE4-4051-BF77-526377A38B36}"/>
              </a:ext>
            </a:extLst>
          </p:cNvPr>
          <p:cNvSpPr>
            <a:spLocks noGrp="1"/>
          </p:cNvSpPr>
          <p:nvPr/>
        </p:nvSpPr>
        <p:spPr>
          <a:xfrm>
            <a:off x="8220075" y="23241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结果能找</a:t>
            </a:r>
          </a:p>
        </p:txBody>
      </p:sp>
      <p:sp>
        <p:nvSpPr>
          <p:cNvPr id="11" name="accept-b-2">
            <a:extLst>
              <a:ext uri="{FF2B5EF4-FFF2-40B4-BE49-F238E27FC236}">
                <a16:creationId xmlns:a16="http://schemas.microsoft.com/office/drawing/2014/main" id="{D649326D-F274-477C-9EDF-545094508E1E}"/>
              </a:ext>
            </a:extLst>
          </p:cNvPr>
          <p:cNvSpPr>
            <a:spLocks noGrp="1"/>
          </p:cNvSpPr>
          <p:nvPr/>
        </p:nvSpPr>
        <p:spPr>
          <a:xfrm>
            <a:off x="8220075" y="28003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支持基础与语义检索；跨语言问题可定位相关内容；索引可重建。</a:t>
            </a:r>
          </a:p>
        </p:txBody>
      </p:sp>
      <p:sp>
        <p:nvSpPr>
          <p:cNvPr id="12" name="accept-num-3">
            <a:extLst>
              <a:ext uri="{FF2B5EF4-FFF2-40B4-BE49-F238E27FC236}">
                <a16:creationId xmlns:a16="http://schemas.microsoft.com/office/drawing/2014/main" id="{BEB88BE7-FE78-4624-9600-50EA4EC744F9}"/>
              </a:ext>
            </a:extLst>
          </p:cNvPr>
          <p:cNvSpPr>
            <a:spLocks noGrp="1"/>
          </p:cNvSpPr>
          <p:nvPr/>
        </p:nvSpPr>
        <p:spPr>
          <a:xfrm>
            <a:off x="400050" y="40005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accept-h-3">
            <a:extLst>
              <a:ext uri="{FF2B5EF4-FFF2-40B4-BE49-F238E27FC236}">
                <a16:creationId xmlns:a16="http://schemas.microsoft.com/office/drawing/2014/main" id="{875E4DAD-D63A-43AD-881D-DC6E4014835E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回答有据</a:t>
            </a:r>
          </a:p>
        </p:txBody>
      </p:sp>
      <p:sp>
        <p:nvSpPr>
          <p:cNvPr id="14" name="accept-b-3">
            <a:extLst>
              <a:ext uri="{FF2B5EF4-FFF2-40B4-BE49-F238E27FC236}">
                <a16:creationId xmlns:a16="http://schemas.microsoft.com/office/drawing/2014/main" id="{48A1529A-9E5A-4566-AC11-4C6C5954D10C}"/>
              </a:ext>
            </a:extLst>
          </p:cNvPr>
          <p:cNvSpPr>
            <a:spLocks noGrp="1"/>
          </p:cNvSpPr>
          <p:nvPr/>
        </p:nvSpPr>
        <p:spPr>
          <a:xfrm>
            <a:off x="400050" y="49339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Agent 仅基于可访问、已发布内容；展示来源并标记不确定性。</a:t>
            </a:r>
          </a:p>
        </p:txBody>
      </p:sp>
      <p:sp>
        <p:nvSpPr>
          <p:cNvPr id="15" name="accept-num-4">
            <a:extLst>
              <a:ext uri="{FF2B5EF4-FFF2-40B4-BE49-F238E27FC236}">
                <a16:creationId xmlns:a16="http://schemas.microsoft.com/office/drawing/2014/main" id="{244A9804-9DA9-4041-98A9-90040B881301}"/>
              </a:ext>
            </a:extLst>
          </p:cNvPr>
          <p:cNvSpPr>
            <a:spLocks noGrp="1"/>
          </p:cNvSpPr>
          <p:nvPr/>
        </p:nvSpPr>
        <p:spPr>
          <a:xfrm>
            <a:off x="4305300" y="40005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accept-h-4">
            <a:extLst>
              <a:ext uri="{FF2B5EF4-FFF2-40B4-BE49-F238E27FC236}">
                <a16:creationId xmlns:a16="http://schemas.microsoft.com/office/drawing/2014/main" id="{2BF65AEA-97E1-430B-8E73-0572370B902D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工具可复用</a:t>
            </a:r>
          </a:p>
        </p:txBody>
      </p:sp>
      <p:sp>
        <p:nvSpPr>
          <p:cNvPr id="17" name="accept-b-4">
            <a:extLst>
              <a:ext uri="{FF2B5EF4-FFF2-40B4-BE49-F238E27FC236}">
                <a16:creationId xmlns:a16="http://schemas.microsoft.com/office/drawing/2014/main" id="{BB3A661A-BD71-4E34-8B8B-8E944017462D}"/>
              </a:ext>
            </a:extLst>
          </p:cNvPr>
          <p:cNvSpPr>
            <a:spLocks noGrp="1"/>
          </p:cNvSpPr>
          <p:nvPr/>
        </p:nvSpPr>
        <p:spPr>
          <a:xfrm>
            <a:off x="4305300" y="49339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Skill 具备输入输出、依赖、测试、版本、审核、下载和停用路径。</a:t>
            </a:r>
          </a:p>
        </p:txBody>
      </p:sp>
      <p:sp>
        <p:nvSpPr>
          <p:cNvPr id="18" name="accept-num-5">
            <a:extLst>
              <a:ext uri="{FF2B5EF4-FFF2-40B4-BE49-F238E27FC236}">
                <a16:creationId xmlns:a16="http://schemas.microsoft.com/office/drawing/2014/main" id="{6A0C64CC-EB85-4FC7-834F-32D0189ED587}"/>
              </a:ext>
            </a:extLst>
          </p:cNvPr>
          <p:cNvSpPr>
            <a:spLocks noGrp="1"/>
          </p:cNvSpPr>
          <p:nvPr/>
        </p:nvSpPr>
        <p:spPr>
          <a:xfrm>
            <a:off x="8220075" y="4000500"/>
            <a:ext cx="5238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19" name="accept-h-5">
            <a:extLst>
              <a:ext uri="{FF2B5EF4-FFF2-40B4-BE49-F238E27FC236}">
                <a16:creationId xmlns:a16="http://schemas.microsoft.com/office/drawing/2014/main" id="{36D6E4D2-9490-473D-AD0C-61DCC25C5973}"/>
              </a:ext>
            </a:extLst>
          </p:cNvPr>
          <p:cNvSpPr>
            <a:spLocks noGrp="1"/>
          </p:cNvSpPr>
          <p:nvPr/>
        </p:nvSpPr>
        <p:spPr>
          <a:xfrm>
            <a:off x="8220075" y="4457700"/>
            <a:ext cx="3333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A0A0A"/>
                </a:solidFill>
                <a:latin typeface="Microsoft YaHei"/>
                <a:ea typeface="Microsoft YaHei"/>
                <a:cs typeface="Microsoft YaHei"/>
              </a:rPr>
              <a:t>故障可恢复</a:t>
            </a:r>
          </a:p>
        </p:txBody>
      </p:sp>
      <p:sp>
        <p:nvSpPr>
          <p:cNvPr id="20" name="accept-b-5">
            <a:extLst>
              <a:ext uri="{FF2B5EF4-FFF2-40B4-BE49-F238E27FC236}">
                <a16:creationId xmlns:a16="http://schemas.microsoft.com/office/drawing/2014/main" id="{9F9F9E41-5EE4-47A2-9475-A28A60CE0459}"/>
              </a:ext>
            </a:extLst>
          </p:cNvPr>
          <p:cNvSpPr>
            <a:spLocks noGrp="1"/>
          </p:cNvSpPr>
          <p:nvPr/>
        </p:nvSpPr>
        <p:spPr>
          <a:xfrm>
            <a:off x="8220075" y="4933950"/>
            <a:ext cx="3333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16B"/>
                </a:solidFill>
                <a:latin typeface="Microsoft YaHei"/>
                <a:ea typeface="Microsoft YaHei"/>
                <a:cs typeface="Microsoft YaHei"/>
              </a:rPr>
              <a:t>模型异常时网站和已有搜索可用；任务可等待恢复；管理员可独立关闭模块。</a:t>
            </a:r>
          </a:p>
        </p:txBody>
      </p:sp>
    </p:spTree>
    <p:extLst>
      <p:ext uri="{BB962C8B-B14F-4D97-AF65-F5344CB8AC3E}">
        <p14:creationId xmlns:p14="http://schemas.microsoft.com/office/powerpoint/2010/main" val="1533628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lose-accent">
            <a:extLst>
              <a:ext uri="{FF2B5EF4-FFF2-40B4-BE49-F238E27FC236}">
                <a16:creationId xmlns:a16="http://schemas.microsoft.com/office/drawing/2014/main" id="{0478A956-F2D2-4780-B56B-9B250E062CA0}"/>
              </a:ext>
            </a:extLst>
          </p:cNvPr>
          <p:cNvSpPr>
            <a:spLocks noGrp="1"/>
          </p:cNvSpPr>
          <p:nvPr/>
        </p:nvSpPr>
        <p:spPr>
          <a:xfrm>
            <a:off x="9734550" y="0"/>
            <a:ext cx="2457450" cy="6858000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" name="close-kicker">
            <a:extLst>
              <a:ext uri="{FF2B5EF4-FFF2-40B4-BE49-F238E27FC236}">
                <a16:creationId xmlns:a16="http://schemas.microsoft.com/office/drawing/2014/main" id="{47247412-E9AE-4378-9B00-9919E6C5F4B3}"/>
              </a:ext>
            </a:extLst>
          </p:cNvPr>
          <p:cNvSpPr>
            <a:spLocks noGrp="1"/>
          </p:cNvSpPr>
          <p:nvPr/>
        </p:nvSpPr>
        <p:spPr>
          <a:xfrm>
            <a:off x="400050" y="4762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rPr>
              <a:t>建议立项</a:t>
            </a:r>
          </a:p>
        </p:txBody>
      </p:sp>
      <p:sp>
        <p:nvSpPr>
          <p:cNvPr id="3" name="close-title">
            <a:extLst>
              <a:ext uri="{FF2B5EF4-FFF2-40B4-BE49-F238E27FC236}">
                <a16:creationId xmlns:a16="http://schemas.microsoft.com/office/drawing/2014/main" id="{E8C48B23-5D25-4D8F-91B0-E24555211C13}"/>
              </a:ext>
            </a:extLst>
          </p:cNvPr>
          <p:cNvSpPr>
            <a:spLocks noGrp="1"/>
          </p:cNvSpPr>
          <p:nvPr/>
        </p:nvSpPr>
        <p:spPr>
          <a:xfrm>
            <a:off x="400050" y="1695450"/>
            <a:ext cx="85725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先打通文献闭环，</a:t>
            </a:r>
          </a:p>
          <a:p>
            <a:pPr algn="l">
              <a:lnSpc>
                <a:spcPct val="95000"/>
              </a:lnSpc>
              <a:buNone/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再扩展知识与 Skill</a:t>
            </a:r>
          </a:p>
        </p:txBody>
      </p:sp>
      <p:sp>
        <p:nvSpPr>
          <p:cNvPr id="4" name="close-body">
            <a:extLst>
              <a:ext uri="{FF2B5EF4-FFF2-40B4-BE49-F238E27FC236}">
                <a16:creationId xmlns:a16="http://schemas.microsoft.com/office/drawing/2014/main" id="{69A271A9-4123-4135-9D66-B9474415416B}"/>
              </a:ext>
            </a:extLst>
          </p:cNvPr>
          <p:cNvSpPr>
            <a:spLocks noGrp="1"/>
          </p:cNvSpPr>
          <p:nvPr/>
        </p:nvSpPr>
        <p:spPr>
          <a:xfrm>
            <a:off x="400050" y="4552950"/>
            <a:ext cx="78105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用可追溯、可审核、可恢复的最小架构，建立课题组长期科研能力。</a:t>
            </a:r>
          </a:p>
        </p:txBody>
      </p:sp>
      <p:sp>
        <p:nvSpPr>
          <p:cNvPr id="5" name="close-decision">
            <a:extLst>
              <a:ext uri="{FF2B5EF4-FFF2-40B4-BE49-F238E27FC236}">
                <a16:creationId xmlns:a16="http://schemas.microsoft.com/office/drawing/2014/main" id="{A167FED7-8DD2-4A41-8B08-1FE24947E728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781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1575" b="1">
                <a:solidFill>
                  <a:srgbClr val="6DCBF4"/>
                </a:solidFill>
                <a:latin typeface="Microsoft YaHei"/>
                <a:ea typeface="Microsoft YaHei"/>
                <a:cs typeface="Microsoft YaHei"/>
              </a:defRPr>
            </a:pPr>
            <a:endParaRPr sz="1575" b="1" dirty="0">
              <a:solidFill>
                <a:srgbClr val="6DCBF4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5903272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1212</Words>
  <Application>Microsoft Office PowerPoint</Application>
  <DocSecurity>0</DocSecurity>
  <PresentationFormat>宽屏</PresentationFormat>
  <Paragraphs>344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2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PLAB</cp:lastModifiedBy>
  <cp:revision>1</cp:revision>
  <dcterms:created xsi:type="dcterms:W3CDTF">2026-08-04T05:25:32Z</dcterms:created>
  <dcterms:modified xsi:type="dcterms:W3CDTF">2026-08-04T05:29:17Z</dcterms:modified>
</cp:coreProperties>
</file>